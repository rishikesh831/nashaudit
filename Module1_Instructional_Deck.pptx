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Open with: 'Before we talk theory — these two numbers tell you the whole story. 85 million roles disrupted, 97 million new ones created. The question isn't whether AI changes work. It already has. The question is: which side of that equation are you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A = Amazon (Kiva robots). Company B = a composite of legacy auto/retail companies that delayed. Don't reveal yet. Let the class debate. Ask: 'What additional information would you need before deciding?' Good priming for Job-Resource Demand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discussion prompt. Give 3-4 minutes in pairs. When sharing back, listen for the distinction students draw between physical tasks vs cognitive judgment vs emotional labor — that maps directly onto the automation vs augmentation vs creation framework coming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theory slide. Key point: AI doesn't just remove tasks — it restructures what's demanded from workers and what they get back. The 'AI Effect' column is where the conversation gets interesting. Draw attention to 'new demands: data literacy' — this is the skill gap PwC's 2030 report flags most urgently.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row by row. Pause on the third row — 'where value comes from' — this is the one MBAs should feel personally. Their competitive advantage in management is shifting from knowing-how to knowing-why. Peter Aytens' 2026 trends report calls this the 'judgment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a vote — hands up. Don't comment immediately. After the vote, reveal: both happened simultaneously. The Davenport &amp; Srinivasan reading (Companies Laying Off Workers Because of AI's Potential, not Performance) argues this distinction is getting blurry and firms are making the case for displacement before the technology even proves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PwC framework from the prescribed reading. Ask students: 'Which world are you being hired into?' Most MBAs will go into Red World firms — fintech, consulting, large tech-adjacent companies. The skill implication is different for each world. Follow up: 'Can a firm be in two worlds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reflection moment. The three questions on the right are interview-style due diligence questions students should be asking prospective employers. This bridges theory to their immediate reality as PGPM students entering the job market. Let it be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contrast explicitly: Klarna moved fastest and got the headline metrics. Amazon moved deliberately and built something durable. IBM moved on optics. Ask: 'If you were the CHRO, which company's playbook would you defend to the board — and to your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point 04 — it's the one that gives MBAs an active role in this story. They won't be individual contributors forever. The moment they manage a team, the automation vs augmentation decision belongs to them. Leave them with that weight intentionally.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w="12700">
            <a:solidFill>
              <a:srgbClr val="0E9AA7"/>
            </a:solidFill>
            <a:prstDash val="solid"/>
          </a:ln>
        </p:spPr>
      </p:sp>
      <p:sp>
        <p:nvSpPr>
          <p:cNvPr id="3" name="Text 1"/>
          <p:cNvSpPr/>
          <p:nvPr/>
        </p:nvSpPr>
        <p:spPr>
          <a:xfrm>
            <a:off x="365760" y="365760"/>
            <a:ext cx="8412480" cy="274320"/>
          </a:xfrm>
          <a:prstGeom prst="rect">
            <a:avLst/>
          </a:prstGeom>
          <a:noFill/>
          <a:ln/>
        </p:spPr>
        <p:txBody>
          <a:bodyPr wrap="square" lIns="0" tIns="0" rIns="0" bIns="0" rtlCol="0" anchor="ctr"/>
          <a:lstStyle/>
          <a:p>
            <a:pPr indent="0" marL="0">
              <a:buNone/>
            </a:pPr>
            <a:r>
              <a:rPr lang="en-US" sz="1000" spc="200" kern="0" dirty="0">
                <a:solidFill>
                  <a:srgbClr val="0E9AA7"/>
                </a:solidFill>
                <a:latin typeface="Calibri" pitchFamily="34" charset="0"/>
                <a:ea typeface="Calibri" pitchFamily="34" charset="-122"/>
                <a:cs typeface="Calibri" pitchFamily="34" charset="-120"/>
              </a:rPr>
              <a:t>SPJIMR | PGPM 2026 | Future of Work After AI</a:t>
            </a:r>
            <a:endParaRPr lang="en-US" sz="1000" dirty="0"/>
          </a:p>
        </p:txBody>
      </p:sp>
      <p:sp>
        <p:nvSpPr>
          <p:cNvPr id="4" name="Text 2"/>
          <p:cNvSpPr/>
          <p:nvPr/>
        </p:nvSpPr>
        <p:spPr>
          <a:xfrm>
            <a:off x="365760" y="685800"/>
            <a:ext cx="5943600" cy="29260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AI, Automation &amp;</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the Changing</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Nature of Work</a:t>
            </a:r>
            <a:endParaRPr lang="en-US" sz="4800" dirty="0"/>
          </a:p>
        </p:txBody>
      </p:sp>
      <p:sp>
        <p:nvSpPr>
          <p:cNvPr id="5" name="Shape 3"/>
          <p:cNvSpPr/>
          <p:nvPr/>
        </p:nvSpPr>
        <p:spPr>
          <a:xfrm>
            <a:off x="365760" y="3749040"/>
            <a:ext cx="1737360" cy="384048"/>
          </a:xfrm>
          <a:prstGeom prst="roundRect">
            <a:avLst>
              <a:gd name="adj" fmla="val 14286"/>
            </a:avLst>
          </a:prstGeom>
          <a:solidFill>
            <a:srgbClr val="F4A623"/>
          </a:solidFill>
          <a:ln w="12700">
            <a:solidFill>
              <a:srgbClr val="F4A623"/>
            </a:solidFill>
            <a:prstDash val="solid"/>
          </a:ln>
        </p:spPr>
      </p:sp>
      <p:sp>
        <p:nvSpPr>
          <p:cNvPr id="6" name="Text 4"/>
          <p:cNvSpPr/>
          <p:nvPr/>
        </p:nvSpPr>
        <p:spPr>
          <a:xfrm>
            <a:off x="365760" y="3749040"/>
            <a:ext cx="1737360" cy="384048"/>
          </a:xfrm>
          <a:prstGeom prst="rect">
            <a:avLst/>
          </a:prstGeom>
          <a:noFill/>
          <a:ln/>
        </p:spPr>
        <p:txBody>
          <a:bodyPr wrap="square" lIns="0" tIns="0" rIns="0" bIns="0" rtlCol="0" anchor="ctr"/>
          <a:lstStyle/>
          <a:p>
            <a:pPr algn="ctr" indent="0" marL="0">
              <a:buNone/>
            </a:pPr>
            <a:r>
              <a:rPr lang="en-US" sz="900" b="1" dirty="0">
                <a:solidFill>
                  <a:srgbClr val="0D1B3E"/>
                </a:solidFill>
                <a:latin typeface="Calibri" pitchFamily="34" charset="0"/>
                <a:ea typeface="Calibri" pitchFamily="34" charset="-122"/>
                <a:cs typeface="Calibri" pitchFamily="34" charset="-120"/>
              </a:rPr>
              <a:t>MODULE 1 | SESSIONS 1–2</a:t>
            </a:r>
            <a:endParaRPr lang="en-US" sz="900" dirty="0"/>
          </a:p>
        </p:txBody>
      </p:sp>
      <p:sp>
        <p:nvSpPr>
          <p:cNvPr id="7" name="Text 5"/>
          <p:cNvSpPr/>
          <p:nvPr/>
        </p:nvSpPr>
        <p:spPr>
          <a:xfrm>
            <a:off x="365760" y="4251960"/>
            <a:ext cx="5669280" cy="365760"/>
          </a:xfrm>
          <a:prstGeom prst="rect">
            <a:avLst/>
          </a:prstGeom>
          <a:noFill/>
          <a:ln/>
        </p:spPr>
        <p:txBody>
          <a:bodyPr wrap="square" lIns="0" tIns="0" rIns="0" bIns="0" rtlCol="0" anchor="ctr"/>
          <a:lstStyle/>
          <a:p>
            <a:pPr indent="0" marL="0">
              <a:buNone/>
            </a:pPr>
            <a:r>
              <a:rPr lang="en-US" sz="1500" i="1" dirty="0">
                <a:solidFill>
                  <a:srgbClr val="AABBCC"/>
                </a:solidFill>
                <a:latin typeface="Calibri" pitchFamily="34" charset="0"/>
                <a:ea typeface="Calibri" pitchFamily="34" charset="-122"/>
                <a:cs typeface="Calibri" pitchFamily="34" charset="-120"/>
              </a:rPr>
              <a:t>What is changing in how work gets done?</a:t>
            </a:r>
            <a:endParaRPr lang="en-US" sz="1500" dirty="0"/>
          </a:p>
        </p:txBody>
      </p:sp>
      <p:sp>
        <p:nvSpPr>
          <p:cNvPr id="8" name="Shape 6"/>
          <p:cNvSpPr/>
          <p:nvPr/>
        </p:nvSpPr>
        <p:spPr>
          <a:xfrm>
            <a:off x="6492240" y="914400"/>
            <a:ext cx="2377440" cy="2926080"/>
          </a:xfrm>
          <a:prstGeom prst="roundRect">
            <a:avLst>
              <a:gd name="adj" fmla="val 4615"/>
            </a:avLst>
          </a:prstGeom>
          <a:solidFill>
            <a:srgbClr val="122040"/>
          </a:solidFill>
          <a:ln w="12700">
            <a:solidFill>
              <a:srgbClr val="0E9AA7"/>
            </a:solidFill>
            <a:prstDash val="solid"/>
          </a:ln>
          <a:effectLst>
            <a:outerShdw sx="100000" sy="100000" kx="0" ky="0" algn="bl" rotWithShape="0" blurRad="101600" dist="38100" dir="2700000">
              <a:srgbClr val="000000">
                <a:alpha val="15000"/>
              </a:srgbClr>
            </a:outerShdw>
          </a:effectLst>
        </p:spPr>
      </p:sp>
      <p:sp>
        <p:nvSpPr>
          <p:cNvPr id="9" name="Text 7"/>
          <p:cNvSpPr/>
          <p:nvPr/>
        </p:nvSpPr>
        <p:spPr>
          <a:xfrm>
            <a:off x="6492240" y="1143000"/>
            <a:ext cx="2377440" cy="1005840"/>
          </a:xfrm>
          <a:prstGeom prst="rect">
            <a:avLst/>
          </a:prstGeom>
          <a:noFill/>
          <a:ln/>
        </p:spPr>
        <p:txBody>
          <a:bodyPr wrap="square" lIns="0" tIns="0" rIns="0" bIns="0" rtlCol="0" anchor="ctr"/>
          <a:lstStyle/>
          <a:p>
            <a:pPr algn="ctr" indent="0" marL="0">
              <a:buNone/>
            </a:pPr>
            <a:r>
              <a:rPr lang="en-US" sz="5400" b="1" dirty="0">
                <a:solidFill>
                  <a:srgbClr val="F4A623"/>
                </a:solidFill>
                <a:latin typeface="Cambria" pitchFamily="34" charset="0"/>
                <a:ea typeface="Cambria" pitchFamily="34" charset="-122"/>
                <a:cs typeface="Cambria" pitchFamily="34" charset="-120"/>
              </a:rPr>
              <a:t>85M</a:t>
            </a:r>
            <a:endParaRPr lang="en-US" sz="5400" dirty="0"/>
          </a:p>
        </p:txBody>
      </p:sp>
      <p:sp>
        <p:nvSpPr>
          <p:cNvPr id="10" name="Text 8"/>
          <p:cNvSpPr/>
          <p:nvPr/>
        </p:nvSpPr>
        <p:spPr>
          <a:xfrm>
            <a:off x="6492240" y="2103120"/>
            <a:ext cx="2377440" cy="5486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jobs displaced</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by 2025</a:t>
            </a:r>
            <a:endParaRPr lang="en-US" sz="1300" dirty="0"/>
          </a:p>
        </p:txBody>
      </p:sp>
      <p:sp>
        <p:nvSpPr>
          <p:cNvPr id="11" name="Text 9"/>
          <p:cNvSpPr/>
          <p:nvPr/>
        </p:nvSpPr>
        <p:spPr>
          <a:xfrm>
            <a:off x="6492240" y="2743200"/>
            <a:ext cx="2377440" cy="731520"/>
          </a:xfrm>
          <a:prstGeom prst="rect">
            <a:avLst/>
          </a:prstGeom>
          <a:noFill/>
          <a:ln/>
        </p:spPr>
        <p:txBody>
          <a:bodyPr wrap="square" lIns="0" tIns="0" rIns="0" bIns="0" rtlCol="0" anchor="ctr"/>
          <a:lstStyle/>
          <a:p>
            <a:pPr algn="ctr" indent="0" marL="0">
              <a:buNone/>
            </a:pPr>
            <a:r>
              <a:rPr lang="en-US" sz="4000" b="1" dirty="0">
                <a:solidFill>
                  <a:srgbClr val="0E9AA7"/>
                </a:solidFill>
                <a:latin typeface="Cambria" pitchFamily="34" charset="0"/>
                <a:ea typeface="Cambria" pitchFamily="34" charset="-122"/>
                <a:cs typeface="Cambria" pitchFamily="34" charset="-120"/>
              </a:rPr>
              <a:t>97M</a:t>
            </a:r>
            <a:endParaRPr lang="en-US" sz="4000" dirty="0"/>
          </a:p>
        </p:txBody>
      </p:sp>
      <p:sp>
        <p:nvSpPr>
          <p:cNvPr id="12" name="Text 10"/>
          <p:cNvSpPr/>
          <p:nvPr/>
        </p:nvSpPr>
        <p:spPr>
          <a:xfrm>
            <a:off x="6492240" y="3429000"/>
            <a:ext cx="2377440" cy="457200"/>
          </a:xfrm>
          <a:prstGeom prst="rect">
            <a:avLst/>
          </a:prstGeom>
          <a:noFill/>
          <a:ln/>
        </p:spPr>
        <p:txBody>
          <a:bodyPr wrap="square" lIns="0" tIns="0" rIns="0" bIns="0" rtlCol="0" anchor="ctr"/>
          <a:lstStyle/>
          <a:p>
            <a:pPr algn="ctr" indent="0" marL="0">
              <a:buNone/>
            </a:pPr>
            <a:r>
              <a:rPr lang="en-US" sz="1100" dirty="0">
                <a:solidFill>
                  <a:srgbClr val="AABBCC"/>
                </a:solidFill>
                <a:latin typeface="Calibri" pitchFamily="34" charset="0"/>
                <a:ea typeface="Calibri" pitchFamily="34" charset="-122"/>
                <a:cs typeface="Calibri" pitchFamily="34" charset="-120"/>
              </a:rPr>
              <a:t>new roles</a:t>
            </a:r>
            <a:endParaRPr lang="en-US" sz="1100" dirty="0"/>
          </a:p>
          <a:p>
            <a:pPr algn="ctr" indent="0" marL="0">
              <a:buNone/>
            </a:pPr>
            <a:r>
              <a:rPr lang="en-US" sz="1100" dirty="0">
                <a:solidFill>
                  <a:srgbClr val="AABBCC"/>
                </a:solidFill>
                <a:latin typeface="Calibri" pitchFamily="34" charset="0"/>
                <a:ea typeface="Calibri" pitchFamily="34" charset="-122"/>
                <a:cs typeface="Calibri" pitchFamily="34" charset="-120"/>
              </a:rPr>
              <a:t>emerging</a:t>
            </a:r>
            <a:endParaRPr lang="en-US" sz="1100" dirty="0"/>
          </a:p>
        </p:txBody>
      </p:sp>
      <p:sp>
        <p:nvSpPr>
          <p:cNvPr id="13" name="Text 11"/>
          <p:cNvSpPr/>
          <p:nvPr/>
        </p:nvSpPr>
        <p:spPr>
          <a:xfrm>
            <a:off x="365760" y="4846320"/>
            <a:ext cx="8412480" cy="182880"/>
          </a:xfrm>
          <a:prstGeom prst="rect">
            <a:avLst/>
          </a:prstGeom>
          <a:noFill/>
          <a:ln/>
        </p:spPr>
        <p:txBody>
          <a:bodyPr wrap="square" lIns="0" tIns="0" rIns="0" bIns="0" rtlCol="0" anchor="ctr"/>
          <a:lstStyle/>
          <a:p>
            <a:pPr algn="r" indent="0" marL="0">
              <a:buNone/>
            </a:pPr>
            <a:r>
              <a:rPr lang="en-US" sz="900" dirty="0">
                <a:solidFill>
                  <a:srgbClr val="556677"/>
                </a:solidFill>
                <a:latin typeface="Calibri" pitchFamily="34" charset="0"/>
                <a:ea typeface="Calibri" pitchFamily="34" charset="-122"/>
                <a:cs typeface="Calibri" pitchFamily="34" charset="-120"/>
              </a:rPr>
              <a:t>WEF Future of Jobs Report 2020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D1B3E"/>
                </a:solidFill>
                <a:latin typeface="Cambria" pitchFamily="34" charset="0"/>
                <a:ea typeface="Cambria" pitchFamily="34" charset="-122"/>
                <a:cs typeface="Cambria" pitchFamily="34" charset="-120"/>
              </a:rPr>
              <a:t>Two companies. Same decade. Opposite bets.</a:t>
            </a:r>
            <a:endParaRPr lang="en-US" sz="2600" dirty="0"/>
          </a:p>
        </p:txBody>
      </p:sp>
      <p:sp>
        <p:nvSpPr>
          <p:cNvPr id="3" name="Shape 1"/>
          <p:cNvSpPr/>
          <p:nvPr/>
        </p:nvSpPr>
        <p:spPr>
          <a:xfrm>
            <a:off x="365760" y="960120"/>
            <a:ext cx="3840480" cy="3200400"/>
          </a:xfrm>
          <a:prstGeom prst="roundRect">
            <a:avLst>
              <a:gd name="adj" fmla="val 3429"/>
            </a:avLst>
          </a:prstGeom>
          <a:solidFill>
            <a:srgbClr val="FFFFFF"/>
          </a:solidFill>
          <a:ln w="6350">
            <a:solidFill>
              <a:srgbClr val="DDDDDD"/>
            </a:solidFill>
            <a:prstDash val="solid"/>
          </a:ln>
          <a:effectLst>
            <a:outerShdw sx="100000" sy="100000" kx="0" ky="0" algn="bl" rotWithShape="0" blurRad="101600" dist="38100" dir="2700000">
              <a:srgbClr val="000000">
                <a:alpha val="15000"/>
              </a:srgbClr>
            </a:outerShdw>
          </a:effectLst>
        </p:spPr>
      </p:sp>
      <p:sp>
        <p:nvSpPr>
          <p:cNvPr id="4" name="Shape 2"/>
          <p:cNvSpPr/>
          <p:nvPr/>
        </p:nvSpPr>
        <p:spPr>
          <a:xfrm>
            <a:off x="365760" y="960120"/>
            <a:ext cx="3840480" cy="594360"/>
          </a:xfrm>
          <a:prstGeom prst="rect">
            <a:avLst/>
          </a:prstGeom>
          <a:solidFill>
            <a:srgbClr val="E84545"/>
          </a:solidFill>
          <a:ln w="12700">
            <a:solidFill>
              <a:srgbClr val="E84545"/>
            </a:solidFill>
            <a:prstDash val="solid"/>
          </a:ln>
        </p:spPr>
      </p:sp>
      <p:sp>
        <p:nvSpPr>
          <p:cNvPr id="5" name="Text 3"/>
          <p:cNvSpPr/>
          <p:nvPr/>
        </p:nvSpPr>
        <p:spPr>
          <a:xfrm>
            <a:off x="365760" y="960120"/>
            <a:ext cx="384048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COMPANY A</a:t>
            </a:r>
            <a:endParaRPr lang="en-US" sz="1400" dirty="0"/>
          </a:p>
        </p:txBody>
      </p:sp>
      <p:sp>
        <p:nvSpPr>
          <p:cNvPr id="6" name="Text 4"/>
          <p:cNvSpPr/>
          <p:nvPr/>
        </p:nvSpPr>
        <p:spPr>
          <a:xfrm>
            <a:off x="548640" y="1691640"/>
            <a:ext cx="3474720" cy="2286000"/>
          </a:xfrm>
          <a:prstGeom prst="rect">
            <a:avLst/>
          </a:prstGeom>
          <a:noFill/>
          <a:ln/>
        </p:spPr>
        <p:txBody>
          <a:bodyPr wrap="square" lIns="0" tIns="0" rIns="0" bIns="0" rtlCol="0" anchor="t"/>
          <a:lstStyle/>
          <a:p>
            <a:pPr indent="0" marL="0">
              <a:buNone/>
            </a:pPr>
            <a:r>
              <a:rPr lang="en-US" sz="1200" b="1" dirty="0">
                <a:solidFill>
                  <a:srgbClr val="333333"/>
                </a:solidFill>
                <a:latin typeface="Calibri" pitchFamily="34" charset="0"/>
                <a:ea typeface="Calibri" pitchFamily="34" charset="-122"/>
                <a:cs typeface="Calibri" pitchFamily="34" charset="-120"/>
              </a:rPr>
              <a:t>Traded its workers for automation.
</a:t>
            </a:r>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45,000 robots deployed.</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150,000 warehouse jobs restructured.</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New roles created for robot technicians, AI auditors, and fleet managers.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Headcount still grew — but the nature of every job changed overnight.</a:t>
            </a:r>
            <a:endParaRPr lang="en-US" sz="1200" dirty="0"/>
          </a:p>
        </p:txBody>
      </p:sp>
      <p:sp>
        <p:nvSpPr>
          <p:cNvPr id="7" name="Shape 5"/>
          <p:cNvSpPr/>
          <p:nvPr/>
        </p:nvSpPr>
        <p:spPr>
          <a:xfrm>
            <a:off x="4937760" y="960120"/>
            <a:ext cx="3840480" cy="3200400"/>
          </a:xfrm>
          <a:prstGeom prst="roundRect">
            <a:avLst>
              <a:gd name="adj" fmla="val 3429"/>
            </a:avLst>
          </a:prstGeom>
          <a:solidFill>
            <a:srgbClr val="FFFFFF"/>
          </a:solidFill>
          <a:ln w="6350">
            <a:solidFill>
              <a:srgbClr val="DDDDDD"/>
            </a:solidFill>
            <a:prstDash val="solid"/>
          </a:ln>
          <a:effectLst>
            <a:outerShdw sx="100000" sy="100000" kx="0" ky="0" algn="bl" rotWithShape="0" blurRad="101600" dist="38100" dir="2700000">
              <a:srgbClr val="000000">
                <a:alpha val="15000"/>
              </a:srgbClr>
            </a:outerShdw>
          </a:effectLst>
        </p:spPr>
      </p:sp>
      <p:sp>
        <p:nvSpPr>
          <p:cNvPr id="8" name="Shape 6"/>
          <p:cNvSpPr/>
          <p:nvPr/>
        </p:nvSpPr>
        <p:spPr>
          <a:xfrm>
            <a:off x="4937760" y="960120"/>
            <a:ext cx="3840480" cy="594360"/>
          </a:xfrm>
          <a:prstGeom prst="rect">
            <a:avLst/>
          </a:prstGeom>
          <a:solidFill>
            <a:srgbClr val="2ECC71"/>
          </a:solidFill>
          <a:ln w="12700">
            <a:solidFill>
              <a:srgbClr val="2ECC71"/>
            </a:solidFill>
            <a:prstDash val="solid"/>
          </a:ln>
        </p:spPr>
      </p:sp>
      <p:sp>
        <p:nvSpPr>
          <p:cNvPr id="9" name="Text 7"/>
          <p:cNvSpPr/>
          <p:nvPr/>
        </p:nvSpPr>
        <p:spPr>
          <a:xfrm>
            <a:off x="4937760" y="960120"/>
            <a:ext cx="384048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COMPANY B</a:t>
            </a:r>
            <a:endParaRPr lang="en-US" sz="1400" dirty="0"/>
          </a:p>
        </p:txBody>
      </p:sp>
      <p:sp>
        <p:nvSpPr>
          <p:cNvPr id="10" name="Text 8"/>
          <p:cNvSpPr/>
          <p:nvPr/>
        </p:nvSpPr>
        <p:spPr>
          <a:xfrm>
            <a:off x="5120640" y="1691640"/>
            <a:ext cx="3474720" cy="2286000"/>
          </a:xfrm>
          <a:prstGeom prst="rect">
            <a:avLst/>
          </a:prstGeom>
          <a:noFill/>
          <a:ln/>
        </p:spPr>
        <p:txBody>
          <a:bodyPr wrap="square" lIns="0" tIns="0" rIns="0" bIns="0" rtlCol="0" anchor="t"/>
          <a:lstStyle/>
          <a:p>
            <a:pPr indent="0" marL="0">
              <a:buNone/>
            </a:pPr>
            <a:r>
              <a:rPr lang="en-US" sz="1200" b="1" dirty="0">
                <a:solidFill>
                  <a:srgbClr val="333333"/>
                </a:solidFill>
                <a:latin typeface="Calibri" pitchFamily="34" charset="0"/>
                <a:ea typeface="Calibri" pitchFamily="34" charset="-122"/>
                <a:cs typeface="Calibri" pitchFamily="34" charset="-120"/>
              </a:rPr>
              <a:t>Chose its workers over technology.
</a:t>
            </a:r>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Delayed automation at unionized plants.</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Invested $1B in reskilling programs.</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Retained institutional knowledge.</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Lost 12% market share in 4 years.</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Eventually automated anyway — under worse conditions.</a:t>
            </a:r>
            <a:endParaRPr lang="en-US" sz="1200" dirty="0"/>
          </a:p>
        </p:txBody>
      </p:sp>
      <p:sp>
        <p:nvSpPr>
          <p:cNvPr id="11" name="Shape 9"/>
          <p:cNvSpPr/>
          <p:nvPr/>
        </p:nvSpPr>
        <p:spPr>
          <a:xfrm>
            <a:off x="365760" y="4343400"/>
            <a:ext cx="8412480" cy="594360"/>
          </a:xfrm>
          <a:prstGeom prst="roundRect">
            <a:avLst>
              <a:gd name="adj" fmla="val 12308"/>
            </a:avLst>
          </a:prstGeom>
          <a:solidFill>
            <a:srgbClr val="0D1B3E"/>
          </a:solidFill>
          <a:ln w="12700">
            <a:solidFill>
              <a:srgbClr val="0D1B3E"/>
            </a:solidFill>
            <a:prstDash val="solid"/>
          </a:ln>
        </p:spPr>
      </p:sp>
      <p:sp>
        <p:nvSpPr>
          <p:cNvPr id="12" name="Text 10"/>
          <p:cNvSpPr/>
          <p:nvPr/>
        </p:nvSpPr>
        <p:spPr>
          <a:xfrm>
            <a:off x="365760" y="4343400"/>
            <a:ext cx="8412480" cy="594360"/>
          </a:xfrm>
          <a:prstGeom prst="rect">
            <a:avLst/>
          </a:prstGeom>
          <a:noFill/>
          <a:ln/>
        </p:spPr>
        <p:txBody>
          <a:bodyPr wrap="square" lIns="0" tIns="0" rIns="0" bIns="0" rtlCol="0" anchor="ctr"/>
          <a:lstStyle/>
          <a:p>
            <a:pPr algn="ctr" indent="0" marL="0">
              <a:buNone/>
            </a:pPr>
            <a:r>
              <a:rPr lang="en-US" sz="1400" b="1" dirty="0">
                <a:solidFill>
                  <a:srgbClr val="F4A623"/>
                </a:solidFill>
                <a:latin typeface="Calibri" pitchFamily="34" charset="0"/>
                <a:ea typeface="Calibri" pitchFamily="34" charset="-122"/>
                <a:cs typeface="Calibri" pitchFamily="34" charset="-120"/>
              </a:rPr>
              <a:t>Which company made the right call? — Hold that thought.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3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206240" y="274320"/>
            <a:ext cx="640080" cy="640080"/>
          </a:xfrm>
          <a:prstGeom prst="rect">
            <a:avLst/>
          </a:prstGeom>
        </p:spPr>
      </p:pic>
      <p:sp>
        <p:nvSpPr>
          <p:cNvPr id="3" name="Text 0"/>
          <p:cNvSpPr/>
          <p:nvPr/>
        </p:nvSpPr>
        <p:spPr>
          <a:xfrm>
            <a:off x="457200" y="274320"/>
            <a:ext cx="3657600" cy="411480"/>
          </a:xfrm>
          <a:prstGeom prst="rect">
            <a:avLst/>
          </a:prstGeom>
          <a:noFill/>
          <a:ln/>
        </p:spPr>
        <p:txBody>
          <a:bodyPr wrap="square" lIns="0" tIns="0" rIns="0" bIns="0" rtlCol="0" anchor="ctr"/>
          <a:lstStyle/>
          <a:p>
            <a:pPr indent="0" marL="0">
              <a:buNone/>
            </a:pPr>
            <a:r>
              <a:rPr lang="en-US" sz="1100" b="1" spc="300" kern="0" dirty="0">
                <a:solidFill>
                  <a:srgbClr val="0E9AA7"/>
                </a:solidFill>
                <a:latin typeface="Calibri" pitchFamily="34" charset="0"/>
                <a:ea typeface="Calibri" pitchFamily="34" charset="-122"/>
                <a:cs typeface="Calibri" pitchFamily="34" charset="-120"/>
              </a:rPr>
              <a:t>DISCUSSION</a:t>
            </a:r>
            <a:endParaRPr lang="en-US" sz="1100" dirty="0"/>
          </a:p>
        </p:txBody>
      </p:sp>
      <p:sp>
        <p:nvSpPr>
          <p:cNvPr id="4" name="Text 1"/>
          <p:cNvSpPr/>
          <p:nvPr/>
        </p:nvSpPr>
        <p:spPr>
          <a:xfrm>
            <a:off x="457200" y="86868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Think about a job someone you know does today.</a:t>
            </a:r>
            <a:endParaRPr lang="en-US" sz="2200" dirty="0"/>
          </a:p>
        </p:txBody>
      </p:sp>
      <p:sp>
        <p:nvSpPr>
          <p:cNvPr id="5" name="Text 2"/>
          <p:cNvSpPr/>
          <p:nvPr/>
        </p:nvSpPr>
        <p:spPr>
          <a:xfrm>
            <a:off x="457200" y="1508760"/>
            <a:ext cx="8229600" cy="822960"/>
          </a:xfrm>
          <a:prstGeom prst="rect">
            <a:avLst/>
          </a:prstGeom>
          <a:noFill/>
          <a:ln/>
        </p:spPr>
        <p:txBody>
          <a:bodyPr wrap="square" lIns="0" tIns="0" rIns="0" bIns="0" rtlCol="0" anchor="ctr"/>
          <a:lstStyle/>
          <a:p>
            <a:pPr indent="0" marL="0">
              <a:buNone/>
            </a:pPr>
            <a:r>
              <a:rPr lang="en-US" sz="1600" dirty="0">
                <a:solidFill>
                  <a:srgbClr val="AABBCC"/>
                </a:solidFill>
                <a:latin typeface="Calibri" pitchFamily="34" charset="0"/>
                <a:ea typeface="Calibri" pitchFamily="34" charset="-122"/>
                <a:cs typeface="Calibri" pitchFamily="34" charset="-120"/>
              </a:rPr>
              <a:t>Which parts of that job do you think AI will handle in 5 years?</a:t>
            </a:r>
            <a:endParaRPr lang="en-US" sz="1600" dirty="0"/>
          </a:p>
          <a:p>
            <a:pPr indent="0" marL="0">
              <a:buNone/>
            </a:pPr>
            <a:r>
              <a:rPr lang="en-US" sz="1600" dirty="0">
                <a:solidFill>
                  <a:srgbClr val="AABBCC"/>
                </a:solidFill>
                <a:latin typeface="Calibri" pitchFamily="34" charset="0"/>
                <a:ea typeface="Calibri" pitchFamily="34" charset="-122"/>
                <a:cs typeface="Calibri" pitchFamily="34" charset="-120"/>
              </a:rPr>
              <a:t>Which parts will still need a human — and why?</a:t>
            </a:r>
            <a:endParaRPr lang="en-US" sz="1600" dirty="0"/>
          </a:p>
        </p:txBody>
      </p:sp>
      <p:sp>
        <p:nvSpPr>
          <p:cNvPr id="6" name="Shape 3"/>
          <p:cNvSpPr/>
          <p:nvPr/>
        </p:nvSpPr>
        <p:spPr>
          <a:xfrm>
            <a:off x="365760" y="2606040"/>
            <a:ext cx="2606040" cy="1920240"/>
          </a:xfrm>
          <a:prstGeom prst="roundRect">
            <a:avLst>
              <a:gd name="adj" fmla="val 4762"/>
            </a:avLst>
          </a:prstGeom>
          <a:solidFill>
            <a:srgbClr val="122040"/>
          </a:solidFill>
          <a:ln w="12700">
            <a:solidFill>
              <a:srgbClr val="0E9AA7"/>
            </a:solidFill>
            <a:prstDash val="solid"/>
          </a:ln>
          <a:effectLst>
            <a:outerShdw sx="100000" sy="100000" kx="0" ky="0" algn="bl" rotWithShape="0" blurRad="101600" dist="38100" dir="2700000">
              <a:srgbClr val="000000">
                <a:alpha val="15000"/>
              </a:srgbClr>
            </a:outerShdw>
          </a:effectLst>
        </p:spPr>
      </p:sp>
      <p:sp>
        <p:nvSpPr>
          <p:cNvPr id="7" name="Text 4"/>
          <p:cNvSpPr/>
          <p:nvPr/>
        </p:nvSpPr>
        <p:spPr>
          <a:xfrm>
            <a:off x="457200" y="2697480"/>
            <a:ext cx="2423160" cy="320040"/>
          </a:xfrm>
          <a:prstGeom prst="rect">
            <a:avLst/>
          </a:prstGeom>
          <a:noFill/>
          <a:ln/>
        </p:spPr>
        <p:txBody>
          <a:bodyPr wrap="square" lIns="0" tIns="0" rIns="0" bIns="0" rtlCol="0" anchor="ctr"/>
          <a:lstStyle/>
          <a:p>
            <a:pPr algn="ctr" indent="0" marL="0">
              <a:buNone/>
            </a:pPr>
            <a:r>
              <a:rPr lang="en-US" sz="1100" b="1" spc="200" kern="0" dirty="0">
                <a:solidFill>
                  <a:srgbClr val="0E9AA7"/>
                </a:solidFill>
                <a:latin typeface="Calibri" pitchFamily="34" charset="0"/>
                <a:ea typeface="Calibri" pitchFamily="34" charset="-122"/>
                <a:cs typeface="Calibri" pitchFamily="34" charset="-120"/>
              </a:rPr>
              <a:t>TASK</a:t>
            </a:r>
            <a:endParaRPr lang="en-US" sz="1100" dirty="0"/>
          </a:p>
        </p:txBody>
      </p:sp>
      <p:sp>
        <p:nvSpPr>
          <p:cNvPr id="8" name="Text 5"/>
          <p:cNvSpPr/>
          <p:nvPr/>
        </p:nvSpPr>
        <p:spPr>
          <a:xfrm>
            <a:off x="475488" y="3108960"/>
            <a:ext cx="2395728" cy="12801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What does the person actually do, step by step?</a:t>
            </a:r>
            <a:endParaRPr lang="en-US" sz="1200" dirty="0"/>
          </a:p>
        </p:txBody>
      </p:sp>
      <p:sp>
        <p:nvSpPr>
          <p:cNvPr id="9" name="Shape 6"/>
          <p:cNvSpPr/>
          <p:nvPr/>
        </p:nvSpPr>
        <p:spPr>
          <a:xfrm>
            <a:off x="3200400" y="2606040"/>
            <a:ext cx="2606040" cy="1920240"/>
          </a:xfrm>
          <a:prstGeom prst="roundRect">
            <a:avLst>
              <a:gd name="adj" fmla="val 4762"/>
            </a:avLst>
          </a:prstGeom>
          <a:solidFill>
            <a:srgbClr val="122040"/>
          </a:solidFill>
          <a:ln w="12700">
            <a:solidFill>
              <a:srgbClr val="0E9AA7"/>
            </a:solidFill>
            <a:prstDash val="solid"/>
          </a:ln>
          <a:effectLst>
            <a:outerShdw sx="100000" sy="100000" kx="0" ky="0" algn="bl" rotWithShape="0" blurRad="101600" dist="38100" dir="2700000">
              <a:srgbClr val="000000">
                <a:alpha val="15000"/>
              </a:srgbClr>
            </a:outerShdw>
          </a:effectLst>
        </p:spPr>
      </p:sp>
      <p:sp>
        <p:nvSpPr>
          <p:cNvPr id="10" name="Text 7"/>
          <p:cNvSpPr/>
          <p:nvPr/>
        </p:nvSpPr>
        <p:spPr>
          <a:xfrm>
            <a:off x="3291840" y="2697480"/>
            <a:ext cx="2423160" cy="320040"/>
          </a:xfrm>
          <a:prstGeom prst="rect">
            <a:avLst/>
          </a:prstGeom>
          <a:noFill/>
          <a:ln/>
        </p:spPr>
        <p:txBody>
          <a:bodyPr wrap="square" lIns="0" tIns="0" rIns="0" bIns="0" rtlCol="0" anchor="ctr"/>
          <a:lstStyle/>
          <a:p>
            <a:pPr algn="ctr" indent="0" marL="0">
              <a:buNone/>
            </a:pPr>
            <a:r>
              <a:rPr lang="en-US" sz="1100" b="1" spc="200" kern="0" dirty="0">
                <a:solidFill>
                  <a:srgbClr val="0E9AA7"/>
                </a:solidFill>
                <a:latin typeface="Calibri" pitchFamily="34" charset="0"/>
                <a:ea typeface="Calibri" pitchFamily="34" charset="-122"/>
                <a:cs typeface="Calibri" pitchFamily="34" charset="-120"/>
              </a:rPr>
              <a:t>JUDGMENT</a:t>
            </a:r>
            <a:endParaRPr lang="en-US" sz="1100" dirty="0"/>
          </a:p>
        </p:txBody>
      </p:sp>
      <p:sp>
        <p:nvSpPr>
          <p:cNvPr id="11" name="Text 8"/>
          <p:cNvSpPr/>
          <p:nvPr/>
        </p:nvSpPr>
        <p:spPr>
          <a:xfrm>
            <a:off x="3310128" y="3108960"/>
            <a:ext cx="2395728" cy="12801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Where does experience or intuition matter?</a:t>
            </a:r>
            <a:endParaRPr lang="en-US" sz="1200" dirty="0"/>
          </a:p>
        </p:txBody>
      </p:sp>
      <p:sp>
        <p:nvSpPr>
          <p:cNvPr id="12" name="Shape 9"/>
          <p:cNvSpPr/>
          <p:nvPr/>
        </p:nvSpPr>
        <p:spPr>
          <a:xfrm>
            <a:off x="6035040" y="2606040"/>
            <a:ext cx="2606040" cy="1920240"/>
          </a:xfrm>
          <a:prstGeom prst="roundRect">
            <a:avLst>
              <a:gd name="adj" fmla="val 4762"/>
            </a:avLst>
          </a:prstGeom>
          <a:solidFill>
            <a:srgbClr val="122040"/>
          </a:solidFill>
          <a:ln w="12700">
            <a:solidFill>
              <a:srgbClr val="0E9AA7"/>
            </a:solidFill>
            <a:prstDash val="solid"/>
          </a:ln>
          <a:effectLst>
            <a:outerShdw sx="100000" sy="100000" kx="0" ky="0" algn="bl" rotWithShape="0" blurRad="101600" dist="38100" dir="2700000">
              <a:srgbClr val="000000">
                <a:alpha val="15000"/>
              </a:srgbClr>
            </a:outerShdw>
          </a:effectLst>
        </p:spPr>
      </p:sp>
      <p:sp>
        <p:nvSpPr>
          <p:cNvPr id="13" name="Text 10"/>
          <p:cNvSpPr/>
          <p:nvPr/>
        </p:nvSpPr>
        <p:spPr>
          <a:xfrm>
            <a:off x="6126480" y="2697480"/>
            <a:ext cx="2423160" cy="320040"/>
          </a:xfrm>
          <a:prstGeom prst="rect">
            <a:avLst/>
          </a:prstGeom>
          <a:noFill/>
          <a:ln/>
        </p:spPr>
        <p:txBody>
          <a:bodyPr wrap="square" lIns="0" tIns="0" rIns="0" bIns="0" rtlCol="0" anchor="ctr"/>
          <a:lstStyle/>
          <a:p>
            <a:pPr algn="ctr" indent="0" marL="0">
              <a:buNone/>
            </a:pPr>
            <a:r>
              <a:rPr lang="en-US" sz="1100" b="1" spc="200" kern="0" dirty="0">
                <a:solidFill>
                  <a:srgbClr val="0E9AA7"/>
                </a:solidFill>
                <a:latin typeface="Calibri" pitchFamily="34" charset="0"/>
                <a:ea typeface="Calibri" pitchFamily="34" charset="-122"/>
                <a:cs typeface="Calibri" pitchFamily="34" charset="-120"/>
              </a:rPr>
              <a:t>RELATIONSHIP</a:t>
            </a:r>
            <a:endParaRPr lang="en-US" sz="1100" dirty="0"/>
          </a:p>
        </p:txBody>
      </p:sp>
      <p:sp>
        <p:nvSpPr>
          <p:cNvPr id="14" name="Text 11"/>
          <p:cNvSpPr/>
          <p:nvPr/>
        </p:nvSpPr>
        <p:spPr>
          <a:xfrm>
            <a:off x="6144768" y="3108960"/>
            <a:ext cx="2395728" cy="12801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Is human contact part of the value itself?</a:t>
            </a:r>
            <a:endParaRPr lang="en-US" sz="1200" dirty="0"/>
          </a:p>
        </p:txBody>
      </p:sp>
      <p:sp>
        <p:nvSpPr>
          <p:cNvPr id="15" name="Text 12"/>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000" i="1" dirty="0">
                <a:solidFill>
                  <a:srgbClr val="556677"/>
                </a:solidFill>
                <a:latin typeface="Calibri" pitchFamily="34" charset="0"/>
                <a:ea typeface="Calibri" pitchFamily="34" charset="-122"/>
                <a:cs typeface="Calibri" pitchFamily="34" charset="-120"/>
              </a:rPr>
              <a:t>3–4 min pair discussion → open share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3E"/>
          </a:solidFill>
          <a:ln w="12700">
            <a:solidFill>
              <a:srgbClr val="0D1B3E"/>
            </a:solidFill>
            <a:prstDash val="solid"/>
          </a:ln>
        </p:spPr>
      </p:sp>
      <p:sp>
        <p:nvSpPr>
          <p:cNvPr id="3" name="Text 1"/>
          <p:cNvSpPr/>
          <p:nvPr/>
        </p:nvSpPr>
        <p:spPr>
          <a:xfrm>
            <a:off x="457200" y="0"/>
            <a:ext cx="8229600" cy="10515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Framework: Job-Resource Demand Theory</a:t>
            </a:r>
            <a:endParaRPr lang="en-US" sz="2200" dirty="0"/>
          </a:p>
        </p:txBody>
      </p:sp>
      <p:sp>
        <p:nvSpPr>
          <p:cNvPr id="4" name="Text 2"/>
          <p:cNvSpPr/>
          <p:nvPr/>
        </p:nvSpPr>
        <p:spPr>
          <a:xfrm>
            <a:off x="457200" y="1188720"/>
            <a:ext cx="8229600" cy="411480"/>
          </a:xfrm>
          <a:prstGeom prst="rect">
            <a:avLst/>
          </a:prstGeom>
          <a:noFill/>
          <a:ln/>
        </p:spPr>
        <p:txBody>
          <a:bodyPr wrap="square" lIns="0" tIns="0" rIns="0" bIns="0" rtlCol="0" anchor="ctr"/>
          <a:lstStyle/>
          <a:p>
            <a:pPr indent="0" marL="0">
              <a:buNone/>
            </a:pPr>
            <a:r>
              <a:rPr lang="en-US" sz="1600" i="1" dirty="0">
                <a:solidFill>
                  <a:srgbClr val="6B7C93"/>
                </a:solidFill>
                <a:latin typeface="Calibri" pitchFamily="34" charset="0"/>
                <a:ea typeface="Calibri" pitchFamily="34" charset="-122"/>
                <a:cs typeface="Calibri" pitchFamily="34" charset="-120"/>
              </a:rPr>
              <a:t>AI doesn't replace jobs. It redistributes demands.</a:t>
            </a:r>
            <a:endParaRPr lang="en-US" sz="1600" dirty="0"/>
          </a:p>
        </p:txBody>
      </p:sp>
      <p:sp>
        <p:nvSpPr>
          <p:cNvPr id="5" name="Shape 3"/>
          <p:cNvSpPr/>
          <p:nvPr/>
        </p:nvSpPr>
        <p:spPr>
          <a:xfrm>
            <a:off x="365760" y="1737360"/>
            <a:ext cx="2651760" cy="2926080"/>
          </a:xfrm>
          <a:prstGeom prst="roundRect">
            <a:avLst>
              <a:gd name="adj" fmla="val 3448"/>
            </a:avLst>
          </a:prstGeom>
          <a:solidFill>
            <a:srgbClr val="F0F4F8"/>
          </a:solidFill>
          <a:ln w="6350">
            <a:solidFill>
              <a:srgbClr val="DDDDDD"/>
            </a:solidFill>
            <a:prstDash val="solid"/>
          </a:ln>
        </p:spPr>
      </p:sp>
      <p:sp>
        <p:nvSpPr>
          <p:cNvPr id="6" name="Shape 4"/>
          <p:cNvSpPr/>
          <p:nvPr/>
        </p:nvSpPr>
        <p:spPr>
          <a:xfrm>
            <a:off x="365760" y="1737360"/>
            <a:ext cx="2651760" cy="640080"/>
          </a:xfrm>
          <a:prstGeom prst="roundRect">
            <a:avLst>
              <a:gd name="adj" fmla="val 14286"/>
            </a:avLst>
          </a:prstGeom>
          <a:solidFill>
            <a:srgbClr val="E84545"/>
          </a:solidFill>
          <a:ln w="12700">
            <a:solidFill>
              <a:srgbClr val="E84545"/>
            </a:solidFill>
            <a:prstDash val="solid"/>
          </a:ln>
        </p:spPr>
      </p:sp>
      <p:sp>
        <p:nvSpPr>
          <p:cNvPr id="7" name="Text 5"/>
          <p:cNvSpPr/>
          <p:nvPr/>
        </p:nvSpPr>
        <p:spPr>
          <a:xfrm>
            <a:off x="365760" y="1737360"/>
            <a:ext cx="2651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DEMANDS</a:t>
            </a:r>
            <a:endParaRPr lang="en-US" sz="1300" dirty="0"/>
          </a:p>
        </p:txBody>
      </p:sp>
      <p:sp>
        <p:nvSpPr>
          <p:cNvPr id="8" name="Text 6"/>
          <p:cNvSpPr/>
          <p:nvPr/>
        </p:nvSpPr>
        <p:spPr>
          <a:xfrm>
            <a:off x="365760" y="2084832"/>
            <a:ext cx="2651760" cy="274320"/>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What work requires</a:t>
            </a:r>
            <a:endParaRPr lang="en-US" sz="1000" dirty="0"/>
          </a:p>
        </p:txBody>
      </p:sp>
      <p:sp>
        <p:nvSpPr>
          <p:cNvPr id="9" name="Text 7"/>
          <p:cNvSpPr/>
          <p:nvPr/>
        </p:nvSpPr>
        <p:spPr>
          <a:xfrm>
            <a:off x="548640" y="25146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Cognitive load</a:t>
            </a:r>
            <a:endParaRPr lang="en-US" sz="1200" dirty="0"/>
          </a:p>
        </p:txBody>
      </p:sp>
      <p:sp>
        <p:nvSpPr>
          <p:cNvPr id="10" name="Text 8"/>
          <p:cNvSpPr/>
          <p:nvPr/>
        </p:nvSpPr>
        <p:spPr>
          <a:xfrm>
            <a:off x="548640" y="29718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Emotional labour</a:t>
            </a:r>
            <a:endParaRPr lang="en-US" sz="1200" dirty="0"/>
          </a:p>
        </p:txBody>
      </p:sp>
      <p:sp>
        <p:nvSpPr>
          <p:cNvPr id="11" name="Text 9"/>
          <p:cNvSpPr/>
          <p:nvPr/>
        </p:nvSpPr>
        <p:spPr>
          <a:xfrm>
            <a:off x="548640" y="34290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Physical effort</a:t>
            </a:r>
            <a:endParaRPr lang="en-US" sz="1200" dirty="0"/>
          </a:p>
        </p:txBody>
      </p:sp>
      <p:sp>
        <p:nvSpPr>
          <p:cNvPr id="12" name="Text 10"/>
          <p:cNvSpPr/>
          <p:nvPr/>
        </p:nvSpPr>
        <p:spPr>
          <a:xfrm>
            <a:off x="548640" y="38862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Decision complexity</a:t>
            </a:r>
            <a:endParaRPr lang="en-US" sz="1200" dirty="0"/>
          </a:p>
        </p:txBody>
      </p:sp>
      <p:sp>
        <p:nvSpPr>
          <p:cNvPr id="13" name="Shape 11"/>
          <p:cNvSpPr/>
          <p:nvPr/>
        </p:nvSpPr>
        <p:spPr>
          <a:xfrm>
            <a:off x="3200400" y="1737360"/>
            <a:ext cx="2651760" cy="2926080"/>
          </a:xfrm>
          <a:prstGeom prst="roundRect">
            <a:avLst>
              <a:gd name="adj" fmla="val 3448"/>
            </a:avLst>
          </a:prstGeom>
          <a:solidFill>
            <a:srgbClr val="F0F4F8"/>
          </a:solidFill>
          <a:ln w="6350">
            <a:solidFill>
              <a:srgbClr val="DDDDDD"/>
            </a:solidFill>
            <a:prstDash val="solid"/>
          </a:ln>
        </p:spPr>
      </p:sp>
      <p:sp>
        <p:nvSpPr>
          <p:cNvPr id="14" name="Shape 12"/>
          <p:cNvSpPr/>
          <p:nvPr/>
        </p:nvSpPr>
        <p:spPr>
          <a:xfrm>
            <a:off x="3200400" y="1737360"/>
            <a:ext cx="2651760" cy="640080"/>
          </a:xfrm>
          <a:prstGeom prst="roundRect">
            <a:avLst>
              <a:gd name="adj" fmla="val 14286"/>
            </a:avLst>
          </a:prstGeom>
          <a:solidFill>
            <a:srgbClr val="0E9AA7"/>
          </a:solidFill>
          <a:ln w="12700">
            <a:solidFill>
              <a:srgbClr val="0E9AA7"/>
            </a:solidFill>
            <a:prstDash val="solid"/>
          </a:ln>
        </p:spPr>
      </p:sp>
      <p:sp>
        <p:nvSpPr>
          <p:cNvPr id="15" name="Text 13"/>
          <p:cNvSpPr/>
          <p:nvPr/>
        </p:nvSpPr>
        <p:spPr>
          <a:xfrm>
            <a:off x="3200400" y="1737360"/>
            <a:ext cx="2651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RESOURCES</a:t>
            </a:r>
            <a:endParaRPr lang="en-US" sz="1300" dirty="0"/>
          </a:p>
        </p:txBody>
      </p:sp>
      <p:sp>
        <p:nvSpPr>
          <p:cNvPr id="16" name="Text 14"/>
          <p:cNvSpPr/>
          <p:nvPr/>
        </p:nvSpPr>
        <p:spPr>
          <a:xfrm>
            <a:off x="3200400" y="2084832"/>
            <a:ext cx="2651760" cy="274320"/>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What work provides</a:t>
            </a:r>
            <a:endParaRPr lang="en-US" sz="1000" dirty="0"/>
          </a:p>
        </p:txBody>
      </p:sp>
      <p:sp>
        <p:nvSpPr>
          <p:cNvPr id="17" name="Text 15"/>
          <p:cNvSpPr/>
          <p:nvPr/>
        </p:nvSpPr>
        <p:spPr>
          <a:xfrm>
            <a:off x="3383280" y="25146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Autonomy &amp; control</a:t>
            </a:r>
            <a:endParaRPr lang="en-US" sz="1200" dirty="0"/>
          </a:p>
        </p:txBody>
      </p:sp>
      <p:sp>
        <p:nvSpPr>
          <p:cNvPr id="18" name="Text 16"/>
          <p:cNvSpPr/>
          <p:nvPr/>
        </p:nvSpPr>
        <p:spPr>
          <a:xfrm>
            <a:off x="3383280" y="29718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Skill utilisation</a:t>
            </a:r>
            <a:endParaRPr lang="en-US" sz="1200" dirty="0"/>
          </a:p>
        </p:txBody>
      </p:sp>
      <p:sp>
        <p:nvSpPr>
          <p:cNvPr id="19" name="Text 17"/>
          <p:cNvSpPr/>
          <p:nvPr/>
        </p:nvSpPr>
        <p:spPr>
          <a:xfrm>
            <a:off x="3383280" y="34290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Social support</a:t>
            </a:r>
            <a:endParaRPr lang="en-US" sz="1200" dirty="0"/>
          </a:p>
        </p:txBody>
      </p:sp>
      <p:sp>
        <p:nvSpPr>
          <p:cNvPr id="20" name="Text 18"/>
          <p:cNvSpPr/>
          <p:nvPr/>
        </p:nvSpPr>
        <p:spPr>
          <a:xfrm>
            <a:off x="3383280" y="38862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Performance feedback</a:t>
            </a:r>
            <a:endParaRPr lang="en-US" sz="1200" dirty="0"/>
          </a:p>
        </p:txBody>
      </p:sp>
      <p:sp>
        <p:nvSpPr>
          <p:cNvPr id="21" name="Shape 19"/>
          <p:cNvSpPr/>
          <p:nvPr/>
        </p:nvSpPr>
        <p:spPr>
          <a:xfrm>
            <a:off x="6035040" y="1737360"/>
            <a:ext cx="2651760" cy="2926080"/>
          </a:xfrm>
          <a:prstGeom prst="roundRect">
            <a:avLst>
              <a:gd name="adj" fmla="val 3448"/>
            </a:avLst>
          </a:prstGeom>
          <a:solidFill>
            <a:srgbClr val="F0F4F8"/>
          </a:solidFill>
          <a:ln w="6350">
            <a:solidFill>
              <a:srgbClr val="DDDDDD"/>
            </a:solidFill>
            <a:prstDash val="solid"/>
          </a:ln>
        </p:spPr>
      </p:sp>
      <p:sp>
        <p:nvSpPr>
          <p:cNvPr id="22" name="Shape 20"/>
          <p:cNvSpPr/>
          <p:nvPr/>
        </p:nvSpPr>
        <p:spPr>
          <a:xfrm>
            <a:off x="6035040" y="1737360"/>
            <a:ext cx="2651760" cy="640080"/>
          </a:xfrm>
          <a:prstGeom prst="roundRect">
            <a:avLst>
              <a:gd name="adj" fmla="val 14286"/>
            </a:avLst>
          </a:prstGeom>
          <a:solidFill>
            <a:srgbClr val="F4A623"/>
          </a:solidFill>
          <a:ln w="12700">
            <a:solidFill>
              <a:srgbClr val="F4A623"/>
            </a:solidFill>
            <a:prstDash val="solid"/>
          </a:ln>
        </p:spPr>
      </p:sp>
      <p:sp>
        <p:nvSpPr>
          <p:cNvPr id="23" name="Text 21"/>
          <p:cNvSpPr/>
          <p:nvPr/>
        </p:nvSpPr>
        <p:spPr>
          <a:xfrm>
            <a:off x="6035040" y="1737360"/>
            <a:ext cx="2651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AI EFFECT</a:t>
            </a:r>
            <a:endParaRPr lang="en-US" sz="1300" dirty="0"/>
          </a:p>
        </p:txBody>
      </p:sp>
      <p:sp>
        <p:nvSpPr>
          <p:cNvPr id="24" name="Text 22"/>
          <p:cNvSpPr/>
          <p:nvPr/>
        </p:nvSpPr>
        <p:spPr>
          <a:xfrm>
            <a:off x="6035040" y="2084832"/>
            <a:ext cx="2651760" cy="274320"/>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What shifts</a:t>
            </a:r>
            <a:endParaRPr lang="en-US" sz="1000" dirty="0"/>
          </a:p>
        </p:txBody>
      </p:sp>
      <p:sp>
        <p:nvSpPr>
          <p:cNvPr id="25" name="Text 23"/>
          <p:cNvSpPr/>
          <p:nvPr/>
        </p:nvSpPr>
        <p:spPr>
          <a:xfrm>
            <a:off x="6217920" y="25146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Cognitive: redistributed</a:t>
            </a:r>
            <a:endParaRPr lang="en-US" sz="1200" dirty="0"/>
          </a:p>
        </p:txBody>
      </p:sp>
      <p:sp>
        <p:nvSpPr>
          <p:cNvPr id="26" name="Text 24"/>
          <p:cNvSpPr/>
          <p:nvPr/>
        </p:nvSpPr>
        <p:spPr>
          <a:xfrm>
            <a:off x="6217920" y="29718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Physical: automated</a:t>
            </a:r>
            <a:endParaRPr lang="en-US" sz="1200" dirty="0"/>
          </a:p>
        </p:txBody>
      </p:sp>
      <p:sp>
        <p:nvSpPr>
          <p:cNvPr id="27" name="Text 25"/>
          <p:cNvSpPr/>
          <p:nvPr/>
        </p:nvSpPr>
        <p:spPr>
          <a:xfrm>
            <a:off x="6217920" y="34290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Relational: amplified</a:t>
            </a:r>
            <a:endParaRPr lang="en-US" sz="1200" dirty="0"/>
          </a:p>
        </p:txBody>
      </p:sp>
      <p:sp>
        <p:nvSpPr>
          <p:cNvPr id="28" name="Text 26"/>
          <p:cNvSpPr/>
          <p:nvPr/>
        </p:nvSpPr>
        <p:spPr>
          <a:xfrm>
            <a:off x="6217920" y="3886200"/>
            <a:ext cx="2331720" cy="384048"/>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New demands: data literacy</a:t>
            </a:r>
            <a:endParaRPr lang="en-US" sz="1200" dirty="0"/>
          </a:p>
        </p:txBody>
      </p:sp>
      <p:sp>
        <p:nvSpPr>
          <p:cNvPr id="29" name="Text 27"/>
          <p:cNvSpPr/>
          <p:nvPr/>
        </p:nvSpPr>
        <p:spPr>
          <a:xfrm>
            <a:off x="365760" y="4800600"/>
            <a:ext cx="8412480" cy="228600"/>
          </a:xfrm>
          <a:prstGeom prst="rect">
            <a:avLst/>
          </a:prstGeom>
          <a:noFill/>
          <a:ln/>
        </p:spPr>
        <p:txBody>
          <a:bodyPr wrap="square" lIns="0" tIns="0" rIns="0" bIns="0" rtlCol="0" anchor="ctr"/>
          <a:lstStyle/>
          <a:p>
            <a:pPr algn="r" indent="0" marL="0">
              <a:buNone/>
            </a:pPr>
            <a:r>
              <a:rPr lang="en-US" sz="900" i="1" dirty="0">
                <a:solidFill>
                  <a:srgbClr val="6B7C93"/>
                </a:solidFill>
                <a:latin typeface="Calibri" pitchFamily="34" charset="0"/>
                <a:ea typeface="Calibri" pitchFamily="34" charset="-122"/>
                <a:cs typeface="Calibri" pitchFamily="34" charset="-120"/>
              </a:rPr>
              <a:t>Based on: PwC 'Workforce of the Future 2030' + HBR 'How Work Has Changed' (Fernandez, 2025)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lIns="0" tIns="0" rIns="0" bIns="0" rtlCol="0" anchor="ctr"/>
          <a:lstStyle/>
          <a:p>
            <a:pPr indent="0" marL="0">
              <a:buNone/>
            </a:pPr>
            <a:r>
              <a:rPr lang="en-US" sz="2400" b="1" dirty="0">
                <a:solidFill>
                  <a:srgbClr val="0D1B3E"/>
                </a:solidFill>
                <a:latin typeface="Cambria" pitchFamily="34" charset="0"/>
                <a:ea typeface="Cambria" pitchFamily="34" charset="-122"/>
                <a:cs typeface="Cambria" pitchFamily="34" charset="-120"/>
              </a:rPr>
              <a:t>The Transformation: Before and After AI</a:t>
            </a:r>
            <a:endParaRPr lang="en-US" sz="2400" dirty="0"/>
          </a:p>
        </p:txBody>
      </p:sp>
      <p:sp>
        <p:nvSpPr>
          <p:cNvPr id="3" name="Text 1"/>
          <p:cNvSpPr/>
          <p:nvPr/>
        </p:nvSpPr>
        <p:spPr>
          <a:xfrm>
            <a:off x="365760" y="713232"/>
            <a:ext cx="8412480" cy="274320"/>
          </a:xfrm>
          <a:prstGeom prst="rect">
            <a:avLst/>
          </a:prstGeom>
          <a:noFill/>
          <a:ln/>
        </p:spPr>
        <p:txBody>
          <a:bodyPr wrap="square" lIns="0" tIns="0" rIns="0" bIns="0" rtlCol="0" anchor="ctr"/>
          <a:lstStyle/>
          <a:p>
            <a:pPr indent="0" marL="0">
              <a:buNone/>
            </a:pPr>
            <a:r>
              <a:rPr lang="en-US" sz="1200" i="1" dirty="0">
                <a:solidFill>
                  <a:srgbClr val="6B7C93"/>
                </a:solidFill>
                <a:latin typeface="Calibri" pitchFamily="34" charset="0"/>
                <a:ea typeface="Calibri" pitchFamily="34" charset="-122"/>
                <a:cs typeface="Calibri" pitchFamily="34" charset="-120"/>
              </a:rPr>
              <a:t>Across three dimensions that matter most</a:t>
            </a:r>
            <a:endParaRPr lang="en-US" sz="1200" dirty="0"/>
          </a:p>
        </p:txBody>
      </p:sp>
      <p:sp>
        <p:nvSpPr>
          <p:cNvPr id="4" name="Shape 2"/>
          <p:cNvSpPr/>
          <p:nvPr/>
        </p:nvSpPr>
        <p:spPr>
          <a:xfrm>
            <a:off x="365760" y="1097280"/>
            <a:ext cx="1508760" cy="1005840"/>
          </a:xfrm>
          <a:prstGeom prst="roundRect">
            <a:avLst>
              <a:gd name="adj" fmla="val 7273"/>
            </a:avLst>
          </a:prstGeom>
          <a:solidFill>
            <a:srgbClr val="0D1B3E"/>
          </a:solidFill>
          <a:ln w="12700">
            <a:solidFill>
              <a:srgbClr val="0D1B3E"/>
            </a:solidFill>
            <a:prstDash val="solid"/>
          </a:ln>
        </p:spPr>
      </p:sp>
      <p:sp>
        <p:nvSpPr>
          <p:cNvPr id="5" name="Text 3"/>
          <p:cNvSpPr/>
          <p:nvPr/>
        </p:nvSpPr>
        <p:spPr>
          <a:xfrm>
            <a:off x="365760" y="1097280"/>
            <a:ext cx="1508760" cy="1005840"/>
          </a:xfrm>
          <a:prstGeom prst="rect">
            <a:avLst/>
          </a:prstGeom>
          <a:noFill/>
          <a:ln/>
        </p:spPr>
        <p:txBody>
          <a:bodyPr wrap="square" lIns="101600" tIns="101600" rIns="101600" bIns="1016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HOW WORK IS DONE</a:t>
            </a:r>
            <a:endParaRPr lang="en-US" sz="1000" dirty="0"/>
          </a:p>
        </p:txBody>
      </p:sp>
      <p:sp>
        <p:nvSpPr>
          <p:cNvPr id="6" name="Shape 4"/>
          <p:cNvSpPr/>
          <p:nvPr/>
        </p:nvSpPr>
        <p:spPr>
          <a:xfrm>
            <a:off x="2011680" y="1097280"/>
            <a:ext cx="3200400" cy="1005840"/>
          </a:xfrm>
          <a:prstGeom prst="roundRect">
            <a:avLst>
              <a:gd name="adj" fmla="val 7273"/>
            </a:avLst>
          </a:prstGeom>
          <a:solidFill>
            <a:srgbClr val="FFFFFF"/>
          </a:solidFill>
          <a:ln w="12700">
            <a:solidFill>
              <a:srgbClr val="FFCDD2"/>
            </a:solidFill>
            <a:prstDash val="solid"/>
          </a:ln>
        </p:spPr>
      </p:sp>
      <p:sp>
        <p:nvSpPr>
          <p:cNvPr id="7" name="Text 5"/>
          <p:cNvSpPr/>
          <p:nvPr/>
        </p:nvSpPr>
        <p:spPr>
          <a:xfrm>
            <a:off x="2148840" y="1143000"/>
            <a:ext cx="2926080" cy="914400"/>
          </a:xfrm>
          <a:prstGeom prst="rect">
            <a:avLst/>
          </a:prstGeom>
          <a:noFill/>
          <a:ln/>
        </p:spPr>
        <p:txBody>
          <a:bodyPr wrap="square" lIns="0" tIns="0" rIns="0" bIns="0" rtlCol="0" anchor="ctr"/>
          <a:lstStyle/>
          <a:p>
            <a:pPr indent="0" marL="0">
              <a:buNone/>
            </a:pPr>
            <a:r>
              <a:rPr lang="en-US" sz="900" b="1" dirty="0">
                <a:solidFill>
                  <a:srgbClr val="E84545"/>
                </a:solidFill>
                <a:latin typeface="Calibri" pitchFamily="34" charset="0"/>
                <a:ea typeface="Calibri" pitchFamily="34" charset="-122"/>
                <a:cs typeface="Calibri" pitchFamily="34" charset="-120"/>
              </a:rPr>
              <a:t>BEFORE  </a:t>
            </a:r>
            <a:pPr indent="0" marL="0">
              <a:buNone/>
            </a:pPr>
            <a:r>
              <a:rPr lang="en-US" sz="1100" dirty="0">
                <a:solidFill>
                  <a:srgbClr val="333333"/>
                </a:solidFill>
                <a:latin typeface="Calibri" pitchFamily="34" charset="0"/>
                <a:ea typeface="Calibri" pitchFamily="34" charset="-122"/>
                <a:cs typeface="Calibri" pitchFamily="34" charset="-120"/>
              </a:rPr>
              <a:t>Sequential tasks executed by individuals. Handoffs manual. Knowledge siloed in experience.</a:t>
            </a:r>
            <a:endParaRPr lang="en-US" sz="900" dirty="0"/>
          </a:p>
        </p:txBody>
      </p:sp>
      <p:sp>
        <p:nvSpPr>
          <p:cNvPr id="8" name="Shape 6"/>
          <p:cNvSpPr/>
          <p:nvPr/>
        </p:nvSpPr>
        <p:spPr>
          <a:xfrm>
            <a:off x="5394960" y="1097280"/>
            <a:ext cx="3383280" cy="1005840"/>
          </a:xfrm>
          <a:prstGeom prst="roundRect">
            <a:avLst>
              <a:gd name="adj" fmla="val 7273"/>
            </a:avLst>
          </a:prstGeom>
          <a:solidFill>
            <a:srgbClr val="FFFFFF"/>
          </a:solidFill>
          <a:ln w="12700">
            <a:solidFill>
              <a:srgbClr val="C8E6C9"/>
            </a:solidFill>
            <a:prstDash val="solid"/>
          </a:ln>
        </p:spPr>
      </p:sp>
      <p:sp>
        <p:nvSpPr>
          <p:cNvPr id="9" name="Text 7"/>
          <p:cNvSpPr/>
          <p:nvPr/>
        </p:nvSpPr>
        <p:spPr>
          <a:xfrm>
            <a:off x="5532120" y="1143000"/>
            <a:ext cx="3154680" cy="914400"/>
          </a:xfrm>
          <a:prstGeom prst="rect">
            <a:avLst/>
          </a:prstGeom>
          <a:noFill/>
          <a:ln/>
        </p:spPr>
        <p:txBody>
          <a:bodyPr wrap="square" lIns="0" tIns="0" rIns="0" bIns="0" rtlCol="0" anchor="ctr"/>
          <a:lstStyle/>
          <a:p>
            <a:pPr indent="0" marL="0">
              <a:buNone/>
            </a:pPr>
            <a:r>
              <a:rPr lang="en-US" sz="900" b="1" dirty="0">
                <a:solidFill>
                  <a:srgbClr val="2ECC71"/>
                </a:solidFill>
                <a:latin typeface="Calibri" pitchFamily="34" charset="0"/>
                <a:ea typeface="Calibri" pitchFamily="34" charset="-122"/>
                <a:cs typeface="Calibri" pitchFamily="34" charset="-120"/>
              </a:rPr>
              <a:t>AFTER  </a:t>
            </a:r>
            <a:pPr indent="0" marL="0">
              <a:buNone/>
            </a:pPr>
            <a:r>
              <a:rPr lang="en-US" sz="1100" dirty="0">
                <a:solidFill>
                  <a:srgbClr val="333333"/>
                </a:solidFill>
                <a:latin typeface="Calibri" pitchFamily="34" charset="0"/>
                <a:ea typeface="Calibri" pitchFamily="34" charset="-122"/>
                <a:cs typeface="Calibri" pitchFamily="34" charset="-120"/>
              </a:rPr>
              <a:t>AI handles routine steps. Humans manage exceptions, orchestrate, and oversee outputs.</a:t>
            </a:r>
            <a:endParaRPr lang="en-US" sz="900" dirty="0"/>
          </a:p>
        </p:txBody>
      </p:sp>
      <p:sp>
        <p:nvSpPr>
          <p:cNvPr id="10" name="Shape 8"/>
          <p:cNvSpPr/>
          <p:nvPr/>
        </p:nvSpPr>
        <p:spPr>
          <a:xfrm>
            <a:off x="365760" y="2359152"/>
            <a:ext cx="1508760" cy="1005840"/>
          </a:xfrm>
          <a:prstGeom prst="roundRect">
            <a:avLst>
              <a:gd name="adj" fmla="val 7273"/>
            </a:avLst>
          </a:prstGeom>
          <a:solidFill>
            <a:srgbClr val="0D1B3E"/>
          </a:solidFill>
          <a:ln w="12700">
            <a:solidFill>
              <a:srgbClr val="0D1B3E"/>
            </a:solidFill>
            <a:prstDash val="solid"/>
          </a:ln>
        </p:spPr>
      </p:sp>
      <p:sp>
        <p:nvSpPr>
          <p:cNvPr id="11" name="Text 9"/>
          <p:cNvSpPr/>
          <p:nvPr/>
        </p:nvSpPr>
        <p:spPr>
          <a:xfrm>
            <a:off x="365760" y="2359152"/>
            <a:ext cx="1508760" cy="1005840"/>
          </a:xfrm>
          <a:prstGeom prst="rect">
            <a:avLst/>
          </a:prstGeom>
          <a:noFill/>
          <a:ln/>
        </p:spPr>
        <p:txBody>
          <a:bodyPr wrap="square" lIns="101600" tIns="101600" rIns="101600" bIns="1016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WHO DOES THE WORK</a:t>
            </a:r>
            <a:endParaRPr lang="en-US" sz="1000" dirty="0"/>
          </a:p>
        </p:txBody>
      </p:sp>
      <p:sp>
        <p:nvSpPr>
          <p:cNvPr id="12" name="Shape 10"/>
          <p:cNvSpPr/>
          <p:nvPr/>
        </p:nvSpPr>
        <p:spPr>
          <a:xfrm>
            <a:off x="2011680" y="2359152"/>
            <a:ext cx="3200400" cy="1005840"/>
          </a:xfrm>
          <a:prstGeom prst="roundRect">
            <a:avLst>
              <a:gd name="adj" fmla="val 7273"/>
            </a:avLst>
          </a:prstGeom>
          <a:solidFill>
            <a:srgbClr val="FFFFFF"/>
          </a:solidFill>
          <a:ln w="12700">
            <a:solidFill>
              <a:srgbClr val="FFCDD2"/>
            </a:solidFill>
            <a:prstDash val="solid"/>
          </a:ln>
        </p:spPr>
      </p:sp>
      <p:sp>
        <p:nvSpPr>
          <p:cNvPr id="13" name="Text 11"/>
          <p:cNvSpPr/>
          <p:nvPr/>
        </p:nvSpPr>
        <p:spPr>
          <a:xfrm>
            <a:off x="2148840" y="2404872"/>
            <a:ext cx="2926080" cy="914400"/>
          </a:xfrm>
          <a:prstGeom prst="rect">
            <a:avLst/>
          </a:prstGeom>
          <a:noFill/>
          <a:ln/>
        </p:spPr>
        <p:txBody>
          <a:bodyPr wrap="square" lIns="0" tIns="0" rIns="0" bIns="0" rtlCol="0" anchor="ctr"/>
          <a:lstStyle/>
          <a:p>
            <a:pPr indent="0" marL="0">
              <a:buNone/>
            </a:pPr>
            <a:r>
              <a:rPr lang="en-US" sz="900" b="1" dirty="0">
                <a:solidFill>
                  <a:srgbClr val="E84545"/>
                </a:solidFill>
                <a:latin typeface="Calibri" pitchFamily="34" charset="0"/>
                <a:ea typeface="Calibri" pitchFamily="34" charset="-122"/>
                <a:cs typeface="Calibri" pitchFamily="34" charset="-120"/>
              </a:rPr>
              <a:t>BEFORE  </a:t>
            </a:r>
            <a:pPr indent="0" marL="0">
              <a:buNone/>
            </a:pPr>
            <a:r>
              <a:rPr lang="en-US" sz="1100" dirty="0">
                <a:solidFill>
                  <a:srgbClr val="333333"/>
                </a:solidFill>
                <a:latin typeface="Calibri" pitchFamily="34" charset="0"/>
                <a:ea typeface="Calibri" pitchFamily="34" charset="-122"/>
                <a:cs typeface="Calibri" pitchFamily="34" charset="-120"/>
              </a:rPr>
              <a:t>Defined roles with fixed job descriptions. Career paths were linear and predictable.</a:t>
            </a:r>
            <a:endParaRPr lang="en-US" sz="900" dirty="0"/>
          </a:p>
        </p:txBody>
      </p:sp>
      <p:sp>
        <p:nvSpPr>
          <p:cNvPr id="14" name="Shape 12"/>
          <p:cNvSpPr/>
          <p:nvPr/>
        </p:nvSpPr>
        <p:spPr>
          <a:xfrm>
            <a:off x="5394960" y="2359152"/>
            <a:ext cx="3383280" cy="1005840"/>
          </a:xfrm>
          <a:prstGeom prst="roundRect">
            <a:avLst>
              <a:gd name="adj" fmla="val 7273"/>
            </a:avLst>
          </a:prstGeom>
          <a:solidFill>
            <a:srgbClr val="FFFFFF"/>
          </a:solidFill>
          <a:ln w="12700">
            <a:solidFill>
              <a:srgbClr val="C8E6C9"/>
            </a:solidFill>
            <a:prstDash val="solid"/>
          </a:ln>
        </p:spPr>
      </p:sp>
      <p:sp>
        <p:nvSpPr>
          <p:cNvPr id="15" name="Text 13"/>
          <p:cNvSpPr/>
          <p:nvPr/>
        </p:nvSpPr>
        <p:spPr>
          <a:xfrm>
            <a:off x="5532120" y="2404872"/>
            <a:ext cx="3154680" cy="914400"/>
          </a:xfrm>
          <a:prstGeom prst="rect">
            <a:avLst/>
          </a:prstGeom>
          <a:noFill/>
          <a:ln/>
        </p:spPr>
        <p:txBody>
          <a:bodyPr wrap="square" lIns="0" tIns="0" rIns="0" bIns="0" rtlCol="0" anchor="ctr"/>
          <a:lstStyle/>
          <a:p>
            <a:pPr indent="0" marL="0">
              <a:buNone/>
            </a:pPr>
            <a:r>
              <a:rPr lang="en-US" sz="900" b="1" dirty="0">
                <a:solidFill>
                  <a:srgbClr val="2ECC71"/>
                </a:solidFill>
                <a:latin typeface="Calibri" pitchFamily="34" charset="0"/>
                <a:ea typeface="Calibri" pitchFamily="34" charset="-122"/>
                <a:cs typeface="Calibri" pitchFamily="34" charset="-120"/>
              </a:rPr>
              <a:t>AFTER  </a:t>
            </a:r>
            <a:pPr indent="0" marL="0">
              <a:buNone/>
            </a:pPr>
            <a:r>
              <a:rPr lang="en-US" sz="1100" dirty="0">
                <a:solidFill>
                  <a:srgbClr val="333333"/>
                </a:solidFill>
                <a:latin typeface="Calibri" pitchFamily="34" charset="0"/>
                <a:ea typeface="Calibri" pitchFamily="34" charset="-122"/>
                <a:cs typeface="Calibri" pitchFamily="34" charset="-120"/>
              </a:rPr>
              <a:t>Fluid teams, hybrid roles. Gig workers, contractors, and AI systems work in parallel.</a:t>
            </a:r>
            <a:endParaRPr lang="en-US" sz="900" dirty="0"/>
          </a:p>
        </p:txBody>
      </p:sp>
      <p:sp>
        <p:nvSpPr>
          <p:cNvPr id="16" name="Shape 14"/>
          <p:cNvSpPr/>
          <p:nvPr/>
        </p:nvSpPr>
        <p:spPr>
          <a:xfrm>
            <a:off x="365760" y="3621024"/>
            <a:ext cx="1508760" cy="1005840"/>
          </a:xfrm>
          <a:prstGeom prst="roundRect">
            <a:avLst>
              <a:gd name="adj" fmla="val 7273"/>
            </a:avLst>
          </a:prstGeom>
          <a:solidFill>
            <a:srgbClr val="0D1B3E"/>
          </a:solidFill>
          <a:ln w="12700">
            <a:solidFill>
              <a:srgbClr val="0D1B3E"/>
            </a:solidFill>
            <a:prstDash val="solid"/>
          </a:ln>
        </p:spPr>
      </p:sp>
      <p:sp>
        <p:nvSpPr>
          <p:cNvPr id="17" name="Text 15"/>
          <p:cNvSpPr/>
          <p:nvPr/>
        </p:nvSpPr>
        <p:spPr>
          <a:xfrm>
            <a:off x="365760" y="3621024"/>
            <a:ext cx="1508760" cy="1005840"/>
          </a:xfrm>
          <a:prstGeom prst="rect">
            <a:avLst/>
          </a:prstGeom>
          <a:noFill/>
          <a:ln/>
        </p:spPr>
        <p:txBody>
          <a:bodyPr wrap="square" lIns="101600" tIns="101600" rIns="101600" bIns="1016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WHERE VALUE COMES FROM</a:t>
            </a:r>
            <a:endParaRPr lang="en-US" sz="1000" dirty="0"/>
          </a:p>
        </p:txBody>
      </p:sp>
      <p:sp>
        <p:nvSpPr>
          <p:cNvPr id="18" name="Shape 16"/>
          <p:cNvSpPr/>
          <p:nvPr/>
        </p:nvSpPr>
        <p:spPr>
          <a:xfrm>
            <a:off x="2011680" y="3621024"/>
            <a:ext cx="3200400" cy="1005840"/>
          </a:xfrm>
          <a:prstGeom prst="roundRect">
            <a:avLst>
              <a:gd name="adj" fmla="val 7273"/>
            </a:avLst>
          </a:prstGeom>
          <a:solidFill>
            <a:srgbClr val="FFFFFF"/>
          </a:solidFill>
          <a:ln w="12700">
            <a:solidFill>
              <a:srgbClr val="FFCDD2"/>
            </a:solidFill>
            <a:prstDash val="solid"/>
          </a:ln>
        </p:spPr>
      </p:sp>
      <p:sp>
        <p:nvSpPr>
          <p:cNvPr id="19" name="Text 17"/>
          <p:cNvSpPr/>
          <p:nvPr/>
        </p:nvSpPr>
        <p:spPr>
          <a:xfrm>
            <a:off x="2148840" y="3666744"/>
            <a:ext cx="2926080" cy="914400"/>
          </a:xfrm>
          <a:prstGeom prst="rect">
            <a:avLst/>
          </a:prstGeom>
          <a:noFill/>
          <a:ln/>
        </p:spPr>
        <p:txBody>
          <a:bodyPr wrap="square" lIns="0" tIns="0" rIns="0" bIns="0" rtlCol="0" anchor="ctr"/>
          <a:lstStyle/>
          <a:p>
            <a:pPr indent="0" marL="0">
              <a:buNone/>
            </a:pPr>
            <a:r>
              <a:rPr lang="en-US" sz="900" b="1" dirty="0">
                <a:solidFill>
                  <a:srgbClr val="E84545"/>
                </a:solidFill>
                <a:latin typeface="Calibri" pitchFamily="34" charset="0"/>
                <a:ea typeface="Calibri" pitchFamily="34" charset="-122"/>
                <a:cs typeface="Calibri" pitchFamily="34" charset="-120"/>
              </a:rPr>
              <a:t>BEFORE  </a:t>
            </a:r>
            <a:pPr indent="0" marL="0">
              <a:buNone/>
            </a:pPr>
            <a:r>
              <a:rPr lang="en-US" sz="1100" dirty="0">
                <a:solidFill>
                  <a:srgbClr val="333333"/>
                </a:solidFill>
                <a:latin typeface="Calibri" pitchFamily="34" charset="0"/>
                <a:ea typeface="Calibri" pitchFamily="34" charset="-122"/>
                <a:cs typeface="Calibri" pitchFamily="34" charset="-120"/>
              </a:rPr>
              <a:t>Execution and expertise. Knowing how to do something was the asset.</a:t>
            </a:r>
            <a:endParaRPr lang="en-US" sz="900" dirty="0"/>
          </a:p>
        </p:txBody>
      </p:sp>
      <p:sp>
        <p:nvSpPr>
          <p:cNvPr id="20" name="Shape 18"/>
          <p:cNvSpPr/>
          <p:nvPr/>
        </p:nvSpPr>
        <p:spPr>
          <a:xfrm>
            <a:off x="5394960" y="3621024"/>
            <a:ext cx="3383280" cy="1005840"/>
          </a:xfrm>
          <a:prstGeom prst="roundRect">
            <a:avLst>
              <a:gd name="adj" fmla="val 7273"/>
            </a:avLst>
          </a:prstGeom>
          <a:solidFill>
            <a:srgbClr val="FFFFFF"/>
          </a:solidFill>
          <a:ln w="12700">
            <a:solidFill>
              <a:srgbClr val="C8E6C9"/>
            </a:solidFill>
            <a:prstDash val="solid"/>
          </a:ln>
        </p:spPr>
      </p:sp>
      <p:sp>
        <p:nvSpPr>
          <p:cNvPr id="21" name="Text 19"/>
          <p:cNvSpPr/>
          <p:nvPr/>
        </p:nvSpPr>
        <p:spPr>
          <a:xfrm>
            <a:off x="5532120" y="3666744"/>
            <a:ext cx="3154680" cy="914400"/>
          </a:xfrm>
          <a:prstGeom prst="rect">
            <a:avLst/>
          </a:prstGeom>
          <a:noFill/>
          <a:ln/>
        </p:spPr>
        <p:txBody>
          <a:bodyPr wrap="square" lIns="0" tIns="0" rIns="0" bIns="0" rtlCol="0" anchor="ctr"/>
          <a:lstStyle/>
          <a:p>
            <a:pPr indent="0" marL="0">
              <a:buNone/>
            </a:pPr>
            <a:r>
              <a:rPr lang="en-US" sz="900" b="1" dirty="0">
                <a:solidFill>
                  <a:srgbClr val="2ECC71"/>
                </a:solidFill>
                <a:latin typeface="Calibri" pitchFamily="34" charset="0"/>
                <a:ea typeface="Calibri" pitchFamily="34" charset="-122"/>
                <a:cs typeface="Calibri" pitchFamily="34" charset="-120"/>
              </a:rPr>
              <a:t>AFTER  </a:t>
            </a:r>
            <a:pPr indent="0" marL="0">
              <a:buNone/>
            </a:pPr>
            <a:r>
              <a:rPr lang="en-US" sz="1100" dirty="0">
                <a:solidFill>
                  <a:srgbClr val="333333"/>
                </a:solidFill>
                <a:latin typeface="Calibri" pitchFamily="34" charset="0"/>
                <a:ea typeface="Calibri" pitchFamily="34" charset="-122"/>
                <a:cs typeface="Calibri" pitchFamily="34" charset="-120"/>
              </a:rPr>
              <a:t>Judgment and creativity. Knowing which problem to solve — and why — is the new asset.</a:t>
            </a:r>
            <a:endParaRPr lang="en-US" sz="900" dirty="0"/>
          </a:p>
        </p:txBody>
      </p:sp>
      <p:sp>
        <p:nvSpPr>
          <p:cNvPr id="22" name="Text 20"/>
          <p:cNvSpPr/>
          <p:nvPr/>
        </p:nvSpPr>
        <p:spPr>
          <a:xfrm>
            <a:off x="365760" y="4828032"/>
            <a:ext cx="8412480" cy="201168"/>
          </a:xfrm>
          <a:prstGeom prst="rect">
            <a:avLst/>
          </a:prstGeom>
          <a:noFill/>
          <a:ln/>
        </p:spPr>
        <p:txBody>
          <a:bodyPr wrap="square" lIns="0" tIns="0" rIns="0" bIns="0" rtlCol="0" anchor="ctr"/>
          <a:lstStyle/>
          <a:p>
            <a:pPr algn="r" indent="0" marL="0">
              <a:buNone/>
            </a:pPr>
            <a:r>
              <a:rPr lang="en-US" sz="900" i="1" dirty="0">
                <a:solidFill>
                  <a:srgbClr val="6B7C93"/>
                </a:solidFill>
                <a:latin typeface="Calibri" pitchFamily="34" charset="0"/>
                <a:ea typeface="Calibri" pitchFamily="34" charset="-122"/>
                <a:cs typeface="Calibri" pitchFamily="34" charset="-120"/>
              </a:rPr>
              <a:t>HBR 'How Work Has Changed' (Fernandez, 2025) | PwC '9 Trends Shaping Work in 2026' (Aytens et 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9AA7"/>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100" b="1" spc="300" kern="0" dirty="0">
                <a:solidFill>
                  <a:srgbClr val="0D1B3E"/>
                </a:solidFill>
                <a:latin typeface="Calibri" pitchFamily="34" charset="0"/>
                <a:ea typeface="Calibri" pitchFamily="34" charset="-122"/>
                <a:cs typeface="Calibri" pitchFamily="34" charset="-120"/>
              </a:rPr>
              <a:t>DISCUSSION</a:t>
            </a:r>
            <a:endParaRPr lang="en-US" sz="1100" dirty="0"/>
          </a:p>
        </p:txBody>
      </p:sp>
      <p:sp>
        <p:nvSpPr>
          <p:cNvPr id="3" name="Text 1"/>
          <p:cNvSpPr/>
          <p:nvPr/>
        </p:nvSpPr>
        <p:spPr>
          <a:xfrm>
            <a:off x="457200" y="731520"/>
            <a:ext cx="8229600" cy="10972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Amazon automated.</a:t>
            </a:r>
            <a:endParaRPr lang="en-US" sz="2800" dirty="0"/>
          </a:p>
          <a:p>
            <a:pPr indent="0" marL="0">
              <a:buNone/>
            </a:pPr>
            <a:r>
              <a:rPr lang="en-US" sz="2800" b="1" dirty="0">
                <a:solidFill>
                  <a:srgbClr val="FFFFFF"/>
                </a:solidFill>
                <a:latin typeface="Cambria" pitchFamily="34" charset="0"/>
                <a:ea typeface="Cambria" pitchFamily="34" charset="-122"/>
                <a:cs typeface="Cambria" pitchFamily="34" charset="-120"/>
              </a:rPr>
              <a:t>But it also hired 1.5 million people.</a:t>
            </a:r>
            <a:endParaRPr lang="en-US" sz="2800" dirty="0"/>
          </a:p>
        </p:txBody>
      </p:sp>
      <p:sp>
        <p:nvSpPr>
          <p:cNvPr id="4" name="Text 2"/>
          <p:cNvSpPr/>
          <p:nvPr/>
        </p:nvSpPr>
        <p:spPr>
          <a:xfrm>
            <a:off x="457200" y="1828800"/>
            <a:ext cx="8229600" cy="502920"/>
          </a:xfrm>
          <a:prstGeom prst="rect">
            <a:avLst/>
          </a:prstGeom>
          <a:noFill/>
          <a:ln/>
        </p:spPr>
        <p:txBody>
          <a:bodyPr wrap="square" lIns="0" tIns="0" rIns="0" bIns="0" rtlCol="0" anchor="ctr"/>
          <a:lstStyle/>
          <a:p>
            <a:pPr indent="0" marL="0">
              <a:buNone/>
            </a:pPr>
            <a:r>
              <a:rPr lang="en-US" sz="1800" i="1" dirty="0">
                <a:solidFill>
                  <a:srgbClr val="0D1B3E"/>
                </a:solidFill>
                <a:latin typeface="Calibri" pitchFamily="34" charset="0"/>
                <a:ea typeface="Calibri" pitchFamily="34" charset="-122"/>
                <a:cs typeface="Calibri" pitchFamily="34" charset="-120"/>
              </a:rPr>
              <a:t>So was it automation — or was it augmentation?</a:t>
            </a:r>
            <a:endParaRPr lang="en-US" sz="1800" dirty="0"/>
          </a:p>
        </p:txBody>
      </p:sp>
      <p:sp>
        <p:nvSpPr>
          <p:cNvPr id="5" name="Shape 3"/>
          <p:cNvSpPr/>
          <p:nvPr/>
        </p:nvSpPr>
        <p:spPr>
          <a:xfrm>
            <a:off x="365760" y="2514600"/>
            <a:ext cx="4023360" cy="2148840"/>
          </a:xfrm>
          <a:prstGeom prst="roundRect">
            <a:avLst>
              <a:gd name="adj" fmla="val 4255"/>
            </a:avLst>
          </a:prstGeom>
          <a:solidFill>
            <a:srgbClr val="FFFFFF"/>
          </a:solidFill>
          <a:ln w="12700">
            <a:solidFill>
              <a:srgbClr val="DDDDDD"/>
            </a:solidFill>
            <a:prstDash val="solid"/>
          </a:ln>
          <a:effectLst>
            <a:outerShdw sx="100000" sy="100000" kx="0" ky="0" algn="bl" rotWithShape="0" blurRad="101600" dist="38100" dir="2700000">
              <a:srgbClr val="000000">
                <a:alpha val="15000"/>
              </a:srgbClr>
            </a:outerShdw>
          </a:effectLst>
        </p:spPr>
      </p:sp>
      <p:sp>
        <p:nvSpPr>
          <p:cNvPr id="6" name="Shape 4"/>
          <p:cNvSpPr/>
          <p:nvPr/>
        </p:nvSpPr>
        <p:spPr>
          <a:xfrm>
            <a:off x="365760" y="2514600"/>
            <a:ext cx="4023360" cy="502920"/>
          </a:xfrm>
          <a:prstGeom prst="roundRect">
            <a:avLst>
              <a:gd name="adj" fmla="val 18182"/>
            </a:avLst>
          </a:prstGeom>
          <a:solidFill>
            <a:srgbClr val="E84545"/>
          </a:solidFill>
          <a:ln w="12700">
            <a:solidFill>
              <a:srgbClr val="E84545"/>
            </a:solidFill>
            <a:prstDash val="solid"/>
          </a:ln>
        </p:spPr>
      </p:sp>
      <p:sp>
        <p:nvSpPr>
          <p:cNvPr id="7" name="Text 5"/>
          <p:cNvSpPr/>
          <p:nvPr/>
        </p:nvSpPr>
        <p:spPr>
          <a:xfrm>
            <a:off x="365760" y="2514600"/>
            <a:ext cx="402336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AUTOMATION</a:t>
            </a:r>
            <a:endParaRPr lang="en-US" sz="1400" dirty="0"/>
          </a:p>
        </p:txBody>
      </p:sp>
      <p:sp>
        <p:nvSpPr>
          <p:cNvPr id="8" name="Text 6"/>
          <p:cNvSpPr/>
          <p:nvPr/>
        </p:nvSpPr>
        <p:spPr>
          <a:xfrm>
            <a:off x="548640" y="3108960"/>
            <a:ext cx="3657600" cy="1417320"/>
          </a:xfrm>
          <a:prstGeom prst="rect">
            <a:avLst/>
          </a:prstGeom>
          <a:noFill/>
          <a:ln/>
        </p:spPr>
        <p:txBody>
          <a:bodyPr wrap="square" lIns="0" tIns="0" rIns="0" bIns="0" rtlCol="0" anchor="ctr"/>
          <a:lstStyle/>
          <a:p>
            <a:pPr indent="0" marL="0">
              <a:buNone/>
            </a:pPr>
            <a:r>
              <a:rPr lang="en-US" sz="1300" dirty="0">
                <a:solidFill>
                  <a:srgbClr val="333333"/>
                </a:solidFill>
                <a:latin typeface="Calibri" pitchFamily="34" charset="0"/>
                <a:ea typeface="Calibri" pitchFamily="34" charset="-122"/>
                <a:cs typeface="Calibri" pitchFamily="34" charset="-120"/>
              </a:rPr>
              <a:t>Technology replaces human tasks. Net labour demand falls.</a:t>
            </a:r>
            <a:endParaRPr lang="en-US" sz="1300" dirty="0"/>
          </a:p>
        </p:txBody>
      </p:sp>
      <p:sp>
        <p:nvSpPr>
          <p:cNvPr id="9" name="Shape 7"/>
          <p:cNvSpPr/>
          <p:nvPr/>
        </p:nvSpPr>
        <p:spPr>
          <a:xfrm>
            <a:off x="4846320" y="2514600"/>
            <a:ext cx="4023360" cy="2148840"/>
          </a:xfrm>
          <a:prstGeom prst="roundRect">
            <a:avLst>
              <a:gd name="adj" fmla="val 4255"/>
            </a:avLst>
          </a:prstGeom>
          <a:solidFill>
            <a:srgbClr val="FFFFFF"/>
          </a:solidFill>
          <a:ln w="12700">
            <a:solidFill>
              <a:srgbClr val="DDDDDD"/>
            </a:solidFill>
            <a:prstDash val="solid"/>
          </a:ln>
          <a:effectLst>
            <a:outerShdw sx="100000" sy="100000" kx="0" ky="0" algn="bl" rotWithShape="0" blurRad="101600" dist="38100" dir="2700000">
              <a:srgbClr val="000000">
                <a:alpha val="15000"/>
              </a:srgbClr>
            </a:outerShdw>
          </a:effectLst>
        </p:spPr>
      </p:sp>
      <p:sp>
        <p:nvSpPr>
          <p:cNvPr id="10" name="Shape 8"/>
          <p:cNvSpPr/>
          <p:nvPr/>
        </p:nvSpPr>
        <p:spPr>
          <a:xfrm>
            <a:off x="4846320" y="2514600"/>
            <a:ext cx="4023360" cy="502920"/>
          </a:xfrm>
          <a:prstGeom prst="roundRect">
            <a:avLst>
              <a:gd name="adj" fmla="val 18182"/>
            </a:avLst>
          </a:prstGeom>
          <a:solidFill>
            <a:srgbClr val="F4A623"/>
          </a:solidFill>
          <a:ln w="12700">
            <a:solidFill>
              <a:srgbClr val="F4A623"/>
            </a:solidFill>
            <a:prstDash val="solid"/>
          </a:ln>
        </p:spPr>
      </p:sp>
      <p:sp>
        <p:nvSpPr>
          <p:cNvPr id="11" name="Text 9"/>
          <p:cNvSpPr/>
          <p:nvPr/>
        </p:nvSpPr>
        <p:spPr>
          <a:xfrm>
            <a:off x="4846320" y="2514600"/>
            <a:ext cx="402336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AUGMENTATION</a:t>
            </a:r>
            <a:endParaRPr lang="en-US" sz="1400" dirty="0"/>
          </a:p>
        </p:txBody>
      </p:sp>
      <p:sp>
        <p:nvSpPr>
          <p:cNvPr id="12" name="Text 10"/>
          <p:cNvSpPr/>
          <p:nvPr/>
        </p:nvSpPr>
        <p:spPr>
          <a:xfrm>
            <a:off x="5029200" y="3108960"/>
            <a:ext cx="3657600" cy="1417320"/>
          </a:xfrm>
          <a:prstGeom prst="rect">
            <a:avLst/>
          </a:prstGeom>
          <a:noFill/>
          <a:ln/>
        </p:spPr>
        <p:txBody>
          <a:bodyPr wrap="square" lIns="0" tIns="0" rIns="0" bIns="0" rtlCol="0" anchor="ctr"/>
          <a:lstStyle/>
          <a:p>
            <a:pPr indent="0" marL="0">
              <a:buNone/>
            </a:pPr>
            <a:r>
              <a:rPr lang="en-US" sz="1300" dirty="0">
                <a:solidFill>
                  <a:srgbClr val="333333"/>
                </a:solidFill>
                <a:latin typeface="Calibri" pitchFamily="34" charset="0"/>
                <a:ea typeface="Calibri" pitchFamily="34" charset="-122"/>
                <a:cs typeface="Calibri" pitchFamily="34" charset="-120"/>
              </a:rPr>
              <a:t>Technology enhances human capability. Humans do more, better.</a:t>
            </a:r>
            <a:endParaRPr lang="en-US" sz="1300" dirty="0"/>
          </a:p>
        </p:txBody>
      </p:sp>
      <p:sp>
        <p:nvSpPr>
          <p:cNvPr id="13" name="Text 11"/>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100" i="1" dirty="0">
                <a:solidFill>
                  <a:srgbClr val="0D1B3E"/>
                </a:solidFill>
                <a:latin typeface="Calibri" pitchFamily="34" charset="0"/>
                <a:ea typeface="Calibri" pitchFamily="34" charset="-122"/>
                <a:cs typeface="Calibri" pitchFamily="34" charset="-120"/>
              </a:rPr>
              <a:t>Vote: raise your hand for one. Then we'll complicate the answer.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3E"/>
          </a:solidFill>
          <a:ln w="12700">
            <a:solidFill>
              <a:srgbClr val="0D1B3E"/>
            </a:solidFill>
            <a:prstDash val="solid"/>
          </a:ln>
        </p:spPr>
      </p:sp>
      <p:sp>
        <p:nvSpPr>
          <p:cNvPr id="3" name="Text 1"/>
          <p:cNvSpPr/>
          <p:nvPr/>
        </p:nvSpPr>
        <p:spPr>
          <a:xfrm>
            <a:off x="365760" y="0"/>
            <a:ext cx="8412480" cy="10515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Three Futures Competing for the Same Workforce</a:t>
            </a:r>
            <a:endParaRPr lang="en-US" sz="2100" dirty="0"/>
          </a:p>
        </p:txBody>
      </p:sp>
      <p:sp>
        <p:nvSpPr>
          <p:cNvPr id="4" name="Text 2"/>
          <p:cNvSpPr/>
          <p:nvPr/>
        </p:nvSpPr>
        <p:spPr>
          <a:xfrm>
            <a:off x="365760" y="1143000"/>
            <a:ext cx="8412480" cy="347472"/>
          </a:xfrm>
          <a:prstGeom prst="rect">
            <a:avLst/>
          </a:prstGeom>
          <a:noFill/>
          <a:ln/>
        </p:spPr>
        <p:txBody>
          <a:bodyPr wrap="square" lIns="0" tIns="0" rIns="0" bIns="0" rtlCol="0" anchor="ctr"/>
          <a:lstStyle/>
          <a:p>
            <a:pPr indent="0" marL="0">
              <a:buNone/>
            </a:pPr>
            <a:r>
              <a:rPr lang="en-US" sz="1200" i="1" dirty="0">
                <a:solidFill>
                  <a:srgbClr val="6B7C93"/>
                </a:solidFill>
                <a:latin typeface="Calibri" pitchFamily="34" charset="0"/>
                <a:ea typeface="Calibri" pitchFamily="34" charset="-122"/>
                <a:cs typeface="Calibri" pitchFamily="34" charset="-120"/>
              </a:rPr>
              <a:t>PwC's Workforce of 2030 identifies three scenarios playing out simultaneously across sectors.</a:t>
            </a:r>
            <a:endParaRPr lang="en-US" sz="1200" dirty="0"/>
          </a:p>
        </p:txBody>
      </p:sp>
      <p:sp>
        <p:nvSpPr>
          <p:cNvPr id="5" name="Shape 3"/>
          <p:cNvSpPr/>
          <p:nvPr/>
        </p:nvSpPr>
        <p:spPr>
          <a:xfrm>
            <a:off x="320040" y="1600200"/>
            <a:ext cx="2651760" cy="3108960"/>
          </a:xfrm>
          <a:prstGeom prst="roundRect">
            <a:avLst>
              <a:gd name="adj" fmla="val 3448"/>
            </a:avLst>
          </a:prstGeom>
          <a:solidFill>
            <a:srgbClr val="F0F4F8"/>
          </a:solidFill>
          <a:ln w="12700">
            <a:solidFill>
              <a:srgbClr val="DDDDDD"/>
            </a:solidFill>
            <a:prstDash val="solid"/>
          </a:ln>
          <a:effectLst>
            <a:outerShdw sx="100000" sy="100000" kx="0" ky="0" algn="bl" rotWithShape="0" blurRad="101600" dist="38100" dir="2700000">
              <a:srgbClr val="000000">
                <a:alpha val="15000"/>
              </a:srgbClr>
            </a:outerShdw>
          </a:effectLst>
        </p:spPr>
      </p:sp>
      <p:sp>
        <p:nvSpPr>
          <p:cNvPr id="6" name="Shape 4"/>
          <p:cNvSpPr/>
          <p:nvPr/>
        </p:nvSpPr>
        <p:spPr>
          <a:xfrm>
            <a:off x="320040" y="1600200"/>
            <a:ext cx="2651760" cy="777240"/>
          </a:xfrm>
          <a:prstGeom prst="roundRect">
            <a:avLst>
              <a:gd name="adj" fmla="val 11765"/>
            </a:avLst>
          </a:prstGeom>
          <a:solidFill>
            <a:srgbClr val="F4A623"/>
          </a:solidFill>
          <a:ln w="12700">
            <a:solidFill>
              <a:srgbClr val="F4A623"/>
            </a:solidFill>
            <a:prstDash val="solid"/>
          </a:ln>
        </p:spPr>
      </p:sp>
      <p:sp>
        <p:nvSpPr>
          <p:cNvPr id="7" name="Text 5"/>
          <p:cNvSpPr/>
          <p:nvPr/>
        </p:nvSpPr>
        <p:spPr>
          <a:xfrm>
            <a:off x="320040" y="1627632"/>
            <a:ext cx="265176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YELLOW WORLD</a:t>
            </a:r>
            <a:endParaRPr lang="en-US" sz="1200" dirty="0"/>
          </a:p>
        </p:txBody>
      </p:sp>
      <p:sp>
        <p:nvSpPr>
          <p:cNvPr id="8" name="Text 6"/>
          <p:cNvSpPr/>
          <p:nvPr/>
        </p:nvSpPr>
        <p:spPr>
          <a:xfrm>
            <a:off x="320040" y="2011680"/>
            <a:ext cx="2651760" cy="320040"/>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Humans first</a:t>
            </a:r>
            <a:endParaRPr lang="en-US" sz="1000" dirty="0"/>
          </a:p>
        </p:txBody>
      </p:sp>
      <p:sp>
        <p:nvSpPr>
          <p:cNvPr id="9" name="Text 7"/>
          <p:cNvSpPr/>
          <p:nvPr/>
        </p:nvSpPr>
        <p:spPr>
          <a:xfrm>
            <a:off x="457200" y="2487168"/>
            <a:ext cx="2377440" cy="1508760"/>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Work is human-centric. Firms value authenticity and ethics.</a:t>
            </a:r>
            <a:endParaRPr lang="en-US" sz="1100" dirty="0"/>
          </a:p>
          <a:p>
            <a:pPr indent="0" marL="0">
              <a:buNone/>
            </a:pP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AI is a tool, not a strategy. Craftmanship and care-work dominate.</a:t>
            </a:r>
            <a:endParaRPr lang="en-US" sz="1100" dirty="0"/>
          </a:p>
        </p:txBody>
      </p:sp>
      <p:sp>
        <p:nvSpPr>
          <p:cNvPr id="10" name="Shape 8"/>
          <p:cNvSpPr/>
          <p:nvPr/>
        </p:nvSpPr>
        <p:spPr>
          <a:xfrm>
            <a:off x="411480" y="4114800"/>
            <a:ext cx="2468880" cy="457200"/>
          </a:xfrm>
          <a:prstGeom prst="roundRect">
            <a:avLst>
              <a:gd name="adj" fmla="val 12000"/>
            </a:avLst>
          </a:prstGeom>
          <a:solidFill>
            <a:srgbClr val="EEEEEE"/>
          </a:solidFill>
          <a:ln w="12700">
            <a:solidFill>
              <a:srgbClr val="CCCCCC"/>
            </a:solidFill>
            <a:prstDash val="solid"/>
          </a:ln>
        </p:spPr>
      </p:sp>
      <p:sp>
        <p:nvSpPr>
          <p:cNvPr id="11" name="Text 9"/>
          <p:cNvSpPr/>
          <p:nvPr/>
        </p:nvSpPr>
        <p:spPr>
          <a:xfrm>
            <a:off x="411480" y="4114800"/>
            <a:ext cx="2468880" cy="457200"/>
          </a:xfrm>
          <a:prstGeom prst="rect">
            <a:avLst/>
          </a:prstGeom>
          <a:noFill/>
          <a:ln/>
        </p:spPr>
        <p:txBody>
          <a:bodyPr wrap="square" lIns="0" tIns="0" rIns="0" bIns="0" rtlCol="0" anchor="ctr"/>
          <a:lstStyle/>
          <a:p>
            <a:pPr algn="ctr" indent="0" marL="0">
              <a:buNone/>
            </a:pPr>
            <a:r>
              <a:rPr lang="en-US" sz="900" i="1" dirty="0">
                <a:solidFill>
                  <a:srgbClr val="555555"/>
                </a:solidFill>
                <a:latin typeface="Calibri" pitchFamily="34" charset="0"/>
                <a:ea typeface="Calibri" pitchFamily="34" charset="-122"/>
                <a:cs typeface="Calibri" pitchFamily="34" charset="-120"/>
              </a:rPr>
              <a:t>e.g. High-touch healthcare, artisan brands, community services</a:t>
            </a:r>
            <a:endParaRPr lang="en-US" sz="900" dirty="0"/>
          </a:p>
        </p:txBody>
      </p:sp>
      <p:sp>
        <p:nvSpPr>
          <p:cNvPr id="12" name="Shape 10"/>
          <p:cNvSpPr/>
          <p:nvPr/>
        </p:nvSpPr>
        <p:spPr>
          <a:xfrm>
            <a:off x="3172968" y="1600200"/>
            <a:ext cx="2651760" cy="3108960"/>
          </a:xfrm>
          <a:prstGeom prst="roundRect">
            <a:avLst>
              <a:gd name="adj" fmla="val 3448"/>
            </a:avLst>
          </a:prstGeom>
          <a:solidFill>
            <a:srgbClr val="F0F4F8"/>
          </a:solidFill>
          <a:ln w="12700">
            <a:solidFill>
              <a:srgbClr val="DDDDDD"/>
            </a:solidFill>
            <a:prstDash val="solid"/>
          </a:ln>
          <a:effectLst>
            <a:outerShdw sx="100000" sy="100000" kx="0" ky="0" algn="bl" rotWithShape="0" blurRad="101600" dist="38100" dir="2700000">
              <a:srgbClr val="000000">
                <a:alpha val="15000"/>
              </a:srgbClr>
            </a:outerShdw>
          </a:effectLst>
        </p:spPr>
      </p:sp>
      <p:sp>
        <p:nvSpPr>
          <p:cNvPr id="13" name="Shape 11"/>
          <p:cNvSpPr/>
          <p:nvPr/>
        </p:nvSpPr>
        <p:spPr>
          <a:xfrm>
            <a:off x="3172968" y="1600200"/>
            <a:ext cx="2651760" cy="777240"/>
          </a:xfrm>
          <a:prstGeom prst="roundRect">
            <a:avLst>
              <a:gd name="adj" fmla="val 11765"/>
            </a:avLst>
          </a:prstGeom>
          <a:solidFill>
            <a:srgbClr val="2ECC71"/>
          </a:solidFill>
          <a:ln w="12700">
            <a:solidFill>
              <a:srgbClr val="2ECC71"/>
            </a:solidFill>
            <a:prstDash val="solid"/>
          </a:ln>
        </p:spPr>
      </p:sp>
      <p:sp>
        <p:nvSpPr>
          <p:cNvPr id="14" name="Text 12"/>
          <p:cNvSpPr/>
          <p:nvPr/>
        </p:nvSpPr>
        <p:spPr>
          <a:xfrm>
            <a:off x="3172968" y="1627632"/>
            <a:ext cx="265176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GREEN WORLD</a:t>
            </a:r>
            <a:endParaRPr lang="en-US" sz="1200" dirty="0"/>
          </a:p>
        </p:txBody>
      </p:sp>
      <p:sp>
        <p:nvSpPr>
          <p:cNvPr id="15" name="Text 13"/>
          <p:cNvSpPr/>
          <p:nvPr/>
        </p:nvSpPr>
        <p:spPr>
          <a:xfrm>
            <a:off x="3172968" y="2011680"/>
            <a:ext cx="2651760" cy="320040"/>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Purpose over profit</a:t>
            </a:r>
            <a:endParaRPr lang="en-US" sz="1000" dirty="0"/>
          </a:p>
        </p:txBody>
      </p:sp>
      <p:sp>
        <p:nvSpPr>
          <p:cNvPr id="16" name="Text 14"/>
          <p:cNvSpPr/>
          <p:nvPr/>
        </p:nvSpPr>
        <p:spPr>
          <a:xfrm>
            <a:off x="3310128" y="2487168"/>
            <a:ext cx="2377440" cy="1508760"/>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Sustainability drives workforce decisions. Slow automation.</a:t>
            </a:r>
            <a:endParaRPr lang="en-US" sz="1100" dirty="0"/>
          </a:p>
          <a:p>
            <a:pPr indent="0" marL="0">
              <a:buNone/>
            </a:pP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Reskilling is an ethical obligation, not a commercial choice.</a:t>
            </a:r>
            <a:endParaRPr lang="en-US" sz="1100" dirty="0"/>
          </a:p>
        </p:txBody>
      </p:sp>
      <p:sp>
        <p:nvSpPr>
          <p:cNvPr id="17" name="Shape 15"/>
          <p:cNvSpPr/>
          <p:nvPr/>
        </p:nvSpPr>
        <p:spPr>
          <a:xfrm>
            <a:off x="3264408" y="4114800"/>
            <a:ext cx="2468880" cy="457200"/>
          </a:xfrm>
          <a:prstGeom prst="roundRect">
            <a:avLst>
              <a:gd name="adj" fmla="val 12000"/>
            </a:avLst>
          </a:prstGeom>
          <a:solidFill>
            <a:srgbClr val="EEEEEE"/>
          </a:solidFill>
          <a:ln w="12700">
            <a:solidFill>
              <a:srgbClr val="CCCCCC"/>
            </a:solidFill>
            <a:prstDash val="solid"/>
          </a:ln>
        </p:spPr>
      </p:sp>
      <p:sp>
        <p:nvSpPr>
          <p:cNvPr id="18" name="Text 16"/>
          <p:cNvSpPr/>
          <p:nvPr/>
        </p:nvSpPr>
        <p:spPr>
          <a:xfrm>
            <a:off x="3264408" y="4114800"/>
            <a:ext cx="2468880" cy="457200"/>
          </a:xfrm>
          <a:prstGeom prst="rect">
            <a:avLst/>
          </a:prstGeom>
          <a:noFill/>
          <a:ln/>
        </p:spPr>
        <p:txBody>
          <a:bodyPr wrap="square" lIns="0" tIns="0" rIns="0" bIns="0" rtlCol="0" anchor="ctr"/>
          <a:lstStyle/>
          <a:p>
            <a:pPr algn="ctr" indent="0" marL="0">
              <a:buNone/>
            </a:pPr>
            <a:r>
              <a:rPr lang="en-US" sz="900" i="1" dirty="0">
                <a:solidFill>
                  <a:srgbClr val="555555"/>
                </a:solidFill>
                <a:latin typeface="Calibri" pitchFamily="34" charset="0"/>
                <a:ea typeface="Calibri" pitchFamily="34" charset="-122"/>
                <a:cs typeface="Calibri" pitchFamily="34" charset="-120"/>
              </a:rPr>
              <a:t>e.g. B-corps, ESG-driven multinationals, NGOs</a:t>
            </a:r>
            <a:endParaRPr lang="en-US" sz="900" dirty="0"/>
          </a:p>
        </p:txBody>
      </p:sp>
      <p:sp>
        <p:nvSpPr>
          <p:cNvPr id="19" name="Shape 17"/>
          <p:cNvSpPr/>
          <p:nvPr/>
        </p:nvSpPr>
        <p:spPr>
          <a:xfrm>
            <a:off x="6025896" y="1600200"/>
            <a:ext cx="2651760" cy="3108960"/>
          </a:xfrm>
          <a:prstGeom prst="roundRect">
            <a:avLst>
              <a:gd name="adj" fmla="val 3448"/>
            </a:avLst>
          </a:prstGeom>
          <a:solidFill>
            <a:srgbClr val="F0F4F8"/>
          </a:solidFill>
          <a:ln w="12700">
            <a:solidFill>
              <a:srgbClr val="DDDDDD"/>
            </a:solidFill>
            <a:prstDash val="solid"/>
          </a:ln>
          <a:effectLst>
            <a:outerShdw sx="100000" sy="100000" kx="0" ky="0" algn="bl" rotWithShape="0" blurRad="101600" dist="38100" dir="2700000">
              <a:srgbClr val="000000">
                <a:alpha val="15000"/>
              </a:srgbClr>
            </a:outerShdw>
          </a:effectLst>
        </p:spPr>
      </p:sp>
      <p:sp>
        <p:nvSpPr>
          <p:cNvPr id="20" name="Shape 18"/>
          <p:cNvSpPr/>
          <p:nvPr/>
        </p:nvSpPr>
        <p:spPr>
          <a:xfrm>
            <a:off x="6025896" y="1600200"/>
            <a:ext cx="2651760" cy="777240"/>
          </a:xfrm>
          <a:prstGeom prst="roundRect">
            <a:avLst>
              <a:gd name="adj" fmla="val 11765"/>
            </a:avLst>
          </a:prstGeom>
          <a:solidFill>
            <a:srgbClr val="E84545"/>
          </a:solidFill>
          <a:ln w="12700">
            <a:solidFill>
              <a:srgbClr val="E84545"/>
            </a:solidFill>
            <a:prstDash val="solid"/>
          </a:ln>
        </p:spPr>
      </p:sp>
      <p:sp>
        <p:nvSpPr>
          <p:cNvPr id="21" name="Text 19"/>
          <p:cNvSpPr/>
          <p:nvPr/>
        </p:nvSpPr>
        <p:spPr>
          <a:xfrm>
            <a:off x="6025896" y="1627632"/>
            <a:ext cx="265176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RED WORLD</a:t>
            </a:r>
            <a:endParaRPr lang="en-US" sz="1200" dirty="0"/>
          </a:p>
        </p:txBody>
      </p:sp>
      <p:sp>
        <p:nvSpPr>
          <p:cNvPr id="22" name="Text 20"/>
          <p:cNvSpPr/>
          <p:nvPr/>
        </p:nvSpPr>
        <p:spPr>
          <a:xfrm>
            <a:off x="6025896" y="2011680"/>
            <a:ext cx="2651760" cy="320040"/>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Innovation wins</a:t>
            </a:r>
            <a:endParaRPr lang="en-US" sz="1000" dirty="0"/>
          </a:p>
        </p:txBody>
      </p:sp>
      <p:sp>
        <p:nvSpPr>
          <p:cNvPr id="23" name="Text 21"/>
          <p:cNvSpPr/>
          <p:nvPr/>
        </p:nvSpPr>
        <p:spPr>
          <a:xfrm>
            <a:off x="6163056" y="2487168"/>
            <a:ext cx="2377440" cy="1508760"/>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Speed of automation is a competitive advantage.</a:t>
            </a:r>
            <a:endParaRPr lang="en-US" sz="1100" dirty="0"/>
          </a:p>
          <a:p>
            <a:pPr indent="0" marL="0">
              <a:buNone/>
            </a:pP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Workers either upskill fast or exit. No middle ground.</a:t>
            </a:r>
            <a:endParaRPr lang="en-US" sz="1100" dirty="0"/>
          </a:p>
        </p:txBody>
      </p:sp>
      <p:sp>
        <p:nvSpPr>
          <p:cNvPr id="24" name="Shape 22"/>
          <p:cNvSpPr/>
          <p:nvPr/>
        </p:nvSpPr>
        <p:spPr>
          <a:xfrm>
            <a:off x="6117336" y="4114800"/>
            <a:ext cx="2468880" cy="457200"/>
          </a:xfrm>
          <a:prstGeom prst="roundRect">
            <a:avLst>
              <a:gd name="adj" fmla="val 12000"/>
            </a:avLst>
          </a:prstGeom>
          <a:solidFill>
            <a:srgbClr val="EEEEEE"/>
          </a:solidFill>
          <a:ln w="12700">
            <a:solidFill>
              <a:srgbClr val="CCCCCC"/>
            </a:solidFill>
            <a:prstDash val="solid"/>
          </a:ln>
        </p:spPr>
      </p:sp>
      <p:sp>
        <p:nvSpPr>
          <p:cNvPr id="25" name="Text 23"/>
          <p:cNvSpPr/>
          <p:nvPr/>
        </p:nvSpPr>
        <p:spPr>
          <a:xfrm>
            <a:off x="6117336" y="4114800"/>
            <a:ext cx="2468880" cy="457200"/>
          </a:xfrm>
          <a:prstGeom prst="rect">
            <a:avLst/>
          </a:prstGeom>
          <a:noFill/>
          <a:ln/>
        </p:spPr>
        <p:txBody>
          <a:bodyPr wrap="square" lIns="0" tIns="0" rIns="0" bIns="0" rtlCol="0" anchor="ctr"/>
          <a:lstStyle/>
          <a:p>
            <a:pPr algn="ctr" indent="0" marL="0">
              <a:buNone/>
            </a:pPr>
            <a:r>
              <a:rPr lang="en-US" sz="900" i="1" dirty="0">
                <a:solidFill>
                  <a:srgbClr val="555555"/>
                </a:solidFill>
                <a:latin typeface="Calibri" pitchFamily="34" charset="0"/>
                <a:ea typeface="Calibri" pitchFamily="34" charset="-122"/>
                <a:cs typeface="Calibri" pitchFamily="34" charset="-120"/>
              </a:rPr>
              <a:t>e.g. Fintech, logistics, AI-first startups — Klarna's playbook</a:t>
            </a:r>
            <a:endParaRPr lang="en-US" sz="900" dirty="0"/>
          </a:p>
        </p:txBody>
      </p:sp>
      <p:sp>
        <p:nvSpPr>
          <p:cNvPr id="26" name="Text 24"/>
          <p:cNvSpPr/>
          <p:nvPr/>
        </p:nvSpPr>
        <p:spPr>
          <a:xfrm>
            <a:off x="365760" y="4846320"/>
            <a:ext cx="8412480" cy="201168"/>
          </a:xfrm>
          <a:prstGeom prst="rect">
            <a:avLst/>
          </a:prstGeom>
          <a:noFill/>
          <a:ln/>
        </p:spPr>
        <p:txBody>
          <a:bodyPr wrap="square" lIns="0" tIns="0" rIns="0" bIns="0" rtlCol="0" anchor="ctr"/>
          <a:lstStyle/>
          <a:p>
            <a:pPr algn="r" indent="0" marL="0">
              <a:buNone/>
            </a:pPr>
            <a:r>
              <a:rPr lang="en-US" sz="900" i="1" dirty="0">
                <a:solidFill>
                  <a:srgbClr val="6B7C93"/>
                </a:solidFill>
                <a:latin typeface="Calibri" pitchFamily="34" charset="0"/>
                <a:ea typeface="Calibri" pitchFamily="34" charset="-122"/>
                <a:cs typeface="Calibri" pitchFamily="34" charset="-120"/>
              </a:rPr>
              <a:t>Source: PwC 'Workforce of the Future: The Competing Forces Shaping 2030'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3E"/>
        </a:solidFill>
      </p:bgPr>
    </p:bg>
    <p:spTree>
      <p:nvGrpSpPr>
        <p:cNvPr id="1" name=""/>
        <p:cNvGrpSpPr/>
        <p:nvPr/>
      </p:nvGrpSpPr>
      <p:grpSpPr>
        <a:xfrm>
          <a:off x="0" y="0"/>
          <a:ext cx="0" cy="0"/>
          <a:chOff x="0" y="0"/>
          <a:chExt cx="0" cy="0"/>
        </a:xfrm>
      </p:grpSpPr>
      <p:sp>
        <p:nvSpPr>
          <p:cNvPr id="2" name="Text 0"/>
          <p:cNvSpPr/>
          <p:nvPr/>
        </p:nvSpPr>
        <p:spPr>
          <a:xfrm>
            <a:off x="457200" y="320040"/>
            <a:ext cx="4572000" cy="320040"/>
          </a:xfrm>
          <a:prstGeom prst="rect">
            <a:avLst/>
          </a:prstGeom>
          <a:noFill/>
          <a:ln/>
        </p:spPr>
        <p:txBody>
          <a:bodyPr wrap="square" lIns="0" tIns="0" rIns="0" bIns="0" rtlCol="0" anchor="ctr"/>
          <a:lstStyle/>
          <a:p>
            <a:pPr indent="0" marL="0">
              <a:buNone/>
            </a:pPr>
            <a:r>
              <a:rPr lang="en-US" sz="1100" b="1" spc="300" kern="0" dirty="0">
                <a:solidFill>
                  <a:srgbClr val="0E9AA7"/>
                </a:solidFill>
                <a:latin typeface="Calibri" pitchFamily="34" charset="0"/>
                <a:ea typeface="Calibri" pitchFamily="34" charset="-122"/>
                <a:cs typeface="Calibri" pitchFamily="34" charset="-120"/>
              </a:rPr>
              <a:t>DISCUSSION</a:t>
            </a:r>
            <a:endParaRPr lang="en-US" sz="1100" dirty="0"/>
          </a:p>
        </p:txBody>
      </p:sp>
      <p:sp>
        <p:nvSpPr>
          <p:cNvPr id="3" name="Text 1"/>
          <p:cNvSpPr/>
          <p:nvPr/>
        </p:nvSpPr>
        <p:spPr>
          <a:xfrm>
            <a:off x="457200" y="749808"/>
            <a:ext cx="5029200" cy="13716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Which world is your</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first employer in?</a:t>
            </a:r>
            <a:endParaRPr lang="en-US" sz="3200" dirty="0"/>
          </a:p>
        </p:txBody>
      </p:sp>
      <p:sp>
        <p:nvSpPr>
          <p:cNvPr id="4" name="Text 2"/>
          <p:cNvSpPr/>
          <p:nvPr/>
        </p:nvSpPr>
        <p:spPr>
          <a:xfrm>
            <a:off x="457200" y="2176272"/>
            <a:ext cx="5029200" cy="502920"/>
          </a:xfrm>
          <a:prstGeom prst="rect">
            <a:avLst/>
          </a:prstGeom>
          <a:noFill/>
          <a:ln/>
        </p:spPr>
        <p:txBody>
          <a:bodyPr wrap="square" lIns="0" tIns="0" rIns="0" bIns="0" rtlCol="0" anchor="ctr"/>
          <a:lstStyle/>
          <a:p>
            <a:pPr indent="0" marL="0">
              <a:buNone/>
            </a:pPr>
            <a:r>
              <a:rPr lang="en-US" sz="1500" i="1" dirty="0">
                <a:solidFill>
                  <a:srgbClr val="AABBCC"/>
                </a:solidFill>
                <a:latin typeface="Calibri" pitchFamily="34" charset="0"/>
                <a:ea typeface="Calibri" pitchFamily="34" charset="-122"/>
                <a:cs typeface="Calibri" pitchFamily="34" charset="-120"/>
              </a:rPr>
              <a:t>And — does it match what you want your career to look like?</a:t>
            </a:r>
            <a:endParaRPr lang="en-US" sz="1500" dirty="0"/>
          </a:p>
        </p:txBody>
      </p:sp>
      <p:sp>
        <p:nvSpPr>
          <p:cNvPr id="5" name="Shape 3"/>
          <p:cNvSpPr/>
          <p:nvPr/>
        </p:nvSpPr>
        <p:spPr>
          <a:xfrm>
            <a:off x="5577840" y="731520"/>
            <a:ext cx="3200400" cy="1143000"/>
          </a:xfrm>
          <a:prstGeom prst="roundRect">
            <a:avLst>
              <a:gd name="adj" fmla="val 8000"/>
            </a:avLst>
          </a:prstGeom>
          <a:solidFill>
            <a:srgbClr val="122040"/>
          </a:solidFill>
          <a:ln w="12700">
            <a:solidFill>
              <a:srgbClr val="0E9AA7"/>
            </a:solidFill>
            <a:prstDash val="solid"/>
          </a:ln>
        </p:spPr>
      </p:sp>
      <p:sp>
        <p:nvSpPr>
          <p:cNvPr id="6" name="Text 4"/>
          <p:cNvSpPr/>
          <p:nvPr/>
        </p:nvSpPr>
        <p:spPr>
          <a:xfrm>
            <a:off x="5577840" y="731520"/>
            <a:ext cx="502920" cy="1143000"/>
          </a:xfrm>
          <a:prstGeom prst="rect">
            <a:avLst/>
          </a:prstGeom>
          <a:noFill/>
          <a:ln/>
        </p:spPr>
        <p:txBody>
          <a:bodyPr wrap="square" lIns="0" tIns="0" rIns="0" bIns="0" rtlCol="0" anchor="ctr"/>
          <a:lstStyle/>
          <a:p>
            <a:pPr algn="ctr" indent="0" marL="0">
              <a:buNone/>
            </a:pPr>
            <a:r>
              <a:rPr lang="en-US" sz="2400" b="1" dirty="0">
                <a:solidFill>
                  <a:srgbClr val="0E9AA7"/>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6080760" y="822960"/>
            <a:ext cx="2560320" cy="9144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How fast does the firm move when new AI tools become available?</a:t>
            </a:r>
            <a:endParaRPr lang="en-US" sz="1100" dirty="0"/>
          </a:p>
        </p:txBody>
      </p:sp>
      <p:sp>
        <p:nvSpPr>
          <p:cNvPr id="8" name="Shape 6"/>
          <p:cNvSpPr/>
          <p:nvPr/>
        </p:nvSpPr>
        <p:spPr>
          <a:xfrm>
            <a:off x="5577840" y="2084832"/>
            <a:ext cx="3200400" cy="1143000"/>
          </a:xfrm>
          <a:prstGeom prst="roundRect">
            <a:avLst>
              <a:gd name="adj" fmla="val 8000"/>
            </a:avLst>
          </a:prstGeom>
          <a:solidFill>
            <a:srgbClr val="122040"/>
          </a:solidFill>
          <a:ln w="12700">
            <a:solidFill>
              <a:srgbClr val="0E9AA7"/>
            </a:solidFill>
            <a:prstDash val="solid"/>
          </a:ln>
        </p:spPr>
      </p:sp>
      <p:sp>
        <p:nvSpPr>
          <p:cNvPr id="9" name="Text 7"/>
          <p:cNvSpPr/>
          <p:nvPr/>
        </p:nvSpPr>
        <p:spPr>
          <a:xfrm>
            <a:off x="5577840" y="2084832"/>
            <a:ext cx="502920" cy="1143000"/>
          </a:xfrm>
          <a:prstGeom prst="rect">
            <a:avLst/>
          </a:prstGeom>
          <a:noFill/>
          <a:ln/>
        </p:spPr>
        <p:txBody>
          <a:bodyPr wrap="square" lIns="0" tIns="0" rIns="0" bIns="0" rtlCol="0" anchor="ctr"/>
          <a:lstStyle/>
          <a:p>
            <a:pPr algn="ctr" indent="0" marL="0">
              <a:buNone/>
            </a:pPr>
            <a:r>
              <a:rPr lang="en-US" sz="2400" b="1" dirty="0">
                <a:solidFill>
                  <a:srgbClr val="0E9AA7"/>
                </a:solidFill>
                <a:latin typeface="Cambria" pitchFamily="34" charset="0"/>
                <a:ea typeface="Cambria" pitchFamily="34" charset="-122"/>
                <a:cs typeface="Cambria" pitchFamily="34" charset="-120"/>
              </a:rPr>
              <a:t>2</a:t>
            </a:r>
            <a:endParaRPr lang="en-US" sz="2400" dirty="0"/>
          </a:p>
        </p:txBody>
      </p:sp>
      <p:sp>
        <p:nvSpPr>
          <p:cNvPr id="10" name="Text 8"/>
          <p:cNvSpPr/>
          <p:nvPr/>
        </p:nvSpPr>
        <p:spPr>
          <a:xfrm>
            <a:off x="6080760" y="2176272"/>
            <a:ext cx="2560320" cy="9144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Does their reskilling promise match their hiring reality?</a:t>
            </a:r>
            <a:endParaRPr lang="en-US" sz="1100" dirty="0"/>
          </a:p>
        </p:txBody>
      </p:sp>
      <p:sp>
        <p:nvSpPr>
          <p:cNvPr id="11" name="Shape 9"/>
          <p:cNvSpPr/>
          <p:nvPr/>
        </p:nvSpPr>
        <p:spPr>
          <a:xfrm>
            <a:off x="5577840" y="3438144"/>
            <a:ext cx="3200400" cy="1143000"/>
          </a:xfrm>
          <a:prstGeom prst="roundRect">
            <a:avLst>
              <a:gd name="adj" fmla="val 8000"/>
            </a:avLst>
          </a:prstGeom>
          <a:solidFill>
            <a:srgbClr val="122040"/>
          </a:solidFill>
          <a:ln w="12700">
            <a:solidFill>
              <a:srgbClr val="0E9AA7"/>
            </a:solidFill>
            <a:prstDash val="solid"/>
          </a:ln>
        </p:spPr>
      </p:sp>
      <p:sp>
        <p:nvSpPr>
          <p:cNvPr id="12" name="Text 10"/>
          <p:cNvSpPr/>
          <p:nvPr/>
        </p:nvSpPr>
        <p:spPr>
          <a:xfrm>
            <a:off x="5577840" y="3438144"/>
            <a:ext cx="502920" cy="1143000"/>
          </a:xfrm>
          <a:prstGeom prst="rect">
            <a:avLst/>
          </a:prstGeom>
          <a:noFill/>
          <a:ln/>
        </p:spPr>
        <p:txBody>
          <a:bodyPr wrap="square" lIns="0" tIns="0" rIns="0" bIns="0" rtlCol="0" anchor="ctr"/>
          <a:lstStyle/>
          <a:p>
            <a:pPr algn="ctr" indent="0" marL="0">
              <a:buNone/>
            </a:pPr>
            <a:r>
              <a:rPr lang="en-US" sz="2400" b="1" dirty="0">
                <a:solidFill>
                  <a:srgbClr val="0E9AA7"/>
                </a:solidFill>
                <a:latin typeface="Cambria" pitchFamily="34" charset="0"/>
                <a:ea typeface="Cambria" pitchFamily="34" charset="-122"/>
                <a:cs typeface="Cambria" pitchFamily="34" charset="-120"/>
              </a:rPr>
              <a:t>3</a:t>
            </a:r>
            <a:endParaRPr lang="en-US" sz="2400" dirty="0"/>
          </a:p>
        </p:txBody>
      </p:sp>
      <p:sp>
        <p:nvSpPr>
          <p:cNvPr id="13" name="Text 11"/>
          <p:cNvSpPr/>
          <p:nvPr/>
        </p:nvSpPr>
        <p:spPr>
          <a:xfrm>
            <a:off x="6080760" y="3529584"/>
            <a:ext cx="2560320" cy="9144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What happened to the last role that was automated away?</a:t>
            </a:r>
            <a:endParaRPr lang="en-US" sz="1100" dirty="0"/>
          </a:p>
        </p:txBody>
      </p:sp>
      <p:sp>
        <p:nvSpPr>
          <p:cNvPr id="14" name="Text 12"/>
          <p:cNvSpPr/>
          <p:nvPr/>
        </p:nvSpPr>
        <p:spPr>
          <a:xfrm>
            <a:off x="457200" y="4754880"/>
            <a:ext cx="8229600" cy="256032"/>
          </a:xfrm>
          <a:prstGeom prst="rect">
            <a:avLst/>
          </a:prstGeom>
          <a:noFill/>
          <a:ln/>
        </p:spPr>
        <p:txBody>
          <a:bodyPr wrap="square" lIns="0" tIns="0" rIns="0" bIns="0" rtlCol="0" anchor="ctr"/>
          <a:lstStyle/>
          <a:p>
            <a:pPr algn="ctr" indent="0" marL="0">
              <a:buNone/>
            </a:pPr>
            <a:r>
              <a:rPr lang="en-US" sz="1000" i="1" dirty="0">
                <a:solidFill>
                  <a:srgbClr val="556677"/>
                </a:solidFill>
                <a:latin typeface="Calibri" pitchFamily="34" charset="0"/>
                <a:ea typeface="Calibri" pitchFamily="34" charset="-122"/>
                <a:cs typeface="Calibri" pitchFamily="34" charset="-120"/>
              </a:rPr>
              <a:t>2 min reflection, then group share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lIns="0" tIns="0" rIns="0" bIns="0" rtlCol="0" anchor="ctr"/>
          <a:lstStyle/>
          <a:p>
            <a:pPr indent="0" marL="0">
              <a:buNone/>
            </a:pPr>
            <a:r>
              <a:rPr lang="en-US" sz="2400" b="1" dirty="0">
                <a:solidFill>
                  <a:srgbClr val="0D1B3E"/>
                </a:solidFill>
                <a:latin typeface="Cambria" pitchFamily="34" charset="0"/>
                <a:ea typeface="Cambria" pitchFamily="34" charset="-122"/>
                <a:cs typeface="Cambria" pitchFamily="34" charset="-120"/>
              </a:rPr>
              <a:t>Why Augmentation May Beat Automation</a:t>
            </a:r>
            <a:endParaRPr lang="en-US" sz="2400" dirty="0"/>
          </a:p>
        </p:txBody>
      </p:sp>
      <p:sp>
        <p:nvSpPr>
          <p:cNvPr id="3" name="Text 1"/>
          <p:cNvSpPr/>
          <p:nvPr/>
        </p:nvSpPr>
        <p:spPr>
          <a:xfrm>
            <a:off x="365760" y="713232"/>
            <a:ext cx="8412480" cy="292608"/>
          </a:xfrm>
          <a:prstGeom prst="rect">
            <a:avLst/>
          </a:prstGeom>
          <a:noFill/>
          <a:ln/>
        </p:spPr>
        <p:txBody>
          <a:bodyPr wrap="square" lIns="0" tIns="0" rIns="0" bIns="0" rtlCol="0" anchor="ctr"/>
          <a:lstStyle/>
          <a:p>
            <a:pPr indent="0" marL="0">
              <a:buNone/>
            </a:pPr>
            <a:r>
              <a:rPr lang="en-US" sz="1200" i="1" dirty="0">
                <a:solidFill>
                  <a:srgbClr val="6B7C93"/>
                </a:solidFill>
                <a:latin typeface="Calibri" pitchFamily="34" charset="0"/>
                <a:ea typeface="Calibri" pitchFamily="34" charset="-122"/>
                <a:cs typeface="Calibri" pitchFamily="34" charset="-120"/>
              </a:rPr>
              <a:t>The reading that should change how you think about your first managerial decision.</a:t>
            </a:r>
            <a:endParaRPr lang="en-US" sz="1200" dirty="0"/>
          </a:p>
        </p:txBody>
      </p:sp>
      <p:sp>
        <p:nvSpPr>
          <p:cNvPr id="4" name="Shape 2"/>
          <p:cNvSpPr/>
          <p:nvPr/>
        </p:nvSpPr>
        <p:spPr>
          <a:xfrm>
            <a:off x="365760" y="1097280"/>
            <a:ext cx="8412480" cy="1417320"/>
          </a:xfrm>
          <a:prstGeom prst="roundRect">
            <a:avLst>
              <a:gd name="adj" fmla="val 6452"/>
            </a:avLst>
          </a:prstGeom>
          <a:solidFill>
            <a:srgbClr val="0D1B3E"/>
          </a:solidFill>
          <a:ln w="12700">
            <a:solidFill>
              <a:srgbClr val="0D1B3E"/>
            </a:solidFill>
            <a:prstDash val="solid"/>
          </a:ln>
        </p:spPr>
      </p:sp>
      <p:sp>
        <p:nvSpPr>
          <p:cNvPr id="5" name="Text 3"/>
          <p:cNvSpPr/>
          <p:nvPr/>
        </p:nvSpPr>
        <p:spPr>
          <a:xfrm>
            <a:off x="594360" y="1188720"/>
            <a:ext cx="7955280" cy="1234440"/>
          </a:xfrm>
          <a:prstGeom prst="rect">
            <a:avLst/>
          </a:prstGeom>
          <a:noFill/>
          <a:ln/>
        </p:spPr>
        <p:txBody>
          <a:bodyPr wrap="square" lIns="0" tIns="0" rIns="0" bIns="0" rtlCol="0" anchor="ctr"/>
          <a:lstStyle/>
          <a:p>
            <a:pPr indent="0" marL="0">
              <a:buNone/>
            </a:pPr>
            <a:r>
              <a:rPr lang="en-US" sz="4000" b="1" dirty="0">
                <a:solidFill>
                  <a:srgbClr val="0E9AA7"/>
                </a:solidFill>
                <a:latin typeface="Calibri" pitchFamily="34" charset="0"/>
                <a:ea typeface="Calibri" pitchFamily="34" charset="-122"/>
                <a:cs typeface="Calibri" pitchFamily="34" charset="-120"/>
              </a:rPr>
              <a:t>"</a:t>
            </a:r>
            <a:pPr indent="0" marL="0">
              <a:buNone/>
            </a:pPr>
            <a:r>
              <a:rPr lang="en-US" sz="1300" dirty="0">
                <a:solidFill>
                  <a:srgbClr val="FFFFFF"/>
                </a:solidFill>
                <a:latin typeface="Calibri" pitchFamily="34" charset="0"/>
                <a:ea typeface="Calibri" pitchFamily="34" charset="-122"/>
                <a:cs typeface="Calibri" pitchFamily="34" charset="-120"/>
              </a:rPr>
              <a:t>Companies that choose AI augmentation — keeping humans central while using AI to amplify what they do — may win in the long run. Not because they move slower. Because they build something automation alone cannot: adaptive, accountable organisations.</a:t>
            </a:r>
            <a:endParaRPr lang="en-US" sz="4000" dirty="0"/>
          </a:p>
        </p:txBody>
      </p:sp>
      <p:sp>
        <p:nvSpPr>
          <p:cNvPr id="6" name="Text 4"/>
          <p:cNvSpPr/>
          <p:nvPr/>
        </p:nvSpPr>
        <p:spPr>
          <a:xfrm>
            <a:off x="365760" y="2514600"/>
            <a:ext cx="8412480" cy="228600"/>
          </a:xfrm>
          <a:prstGeom prst="rect">
            <a:avLst/>
          </a:prstGeom>
          <a:noFill/>
          <a:ln/>
        </p:spPr>
        <p:txBody>
          <a:bodyPr wrap="square" lIns="0" tIns="0" rIns="0" bIns="0" rtlCol="0" anchor="ctr"/>
          <a:lstStyle/>
          <a:p>
            <a:pPr algn="r" indent="0" marL="0">
              <a:buNone/>
            </a:pPr>
            <a:r>
              <a:rPr lang="en-US" sz="900" i="1" dirty="0">
                <a:solidFill>
                  <a:srgbClr val="6B7C93"/>
                </a:solidFill>
                <a:latin typeface="Calibri" pitchFamily="34" charset="0"/>
                <a:ea typeface="Calibri" pitchFamily="34" charset="-122"/>
                <a:cs typeface="Calibri" pitchFamily="34" charset="-120"/>
              </a:rPr>
              <a:t>HBR | Why Companies That Choose AI Augmentation Over Automation May Win</a:t>
            </a:r>
            <a:endParaRPr lang="en-US" sz="900" dirty="0"/>
          </a:p>
        </p:txBody>
      </p:sp>
      <p:sp>
        <p:nvSpPr>
          <p:cNvPr id="7" name="Shape 5"/>
          <p:cNvSpPr/>
          <p:nvPr/>
        </p:nvSpPr>
        <p:spPr>
          <a:xfrm>
            <a:off x="365760" y="2880360"/>
            <a:ext cx="2651760" cy="1965960"/>
          </a:xfrm>
          <a:prstGeom prst="roundRect">
            <a:avLst>
              <a:gd name="adj" fmla="val 4651"/>
            </a:avLst>
          </a:prstGeom>
          <a:solidFill>
            <a:srgbClr val="FFFFFF"/>
          </a:solidFill>
          <a:ln w="12700">
            <a:solidFill>
              <a:srgbClr val="DDDDDD"/>
            </a:solidFill>
            <a:prstDash val="solid"/>
          </a:ln>
          <a:effectLst>
            <a:outerShdw sx="100000" sy="100000" kx="0" ky="0" algn="bl" rotWithShape="0" blurRad="101600" dist="38100" dir="2700000">
              <a:srgbClr val="000000">
                <a:alpha val="15000"/>
              </a:srgbClr>
            </a:outerShdw>
          </a:effectLst>
        </p:spPr>
      </p:sp>
      <p:sp>
        <p:nvSpPr>
          <p:cNvPr id="8" name="Text 6"/>
          <p:cNvSpPr/>
          <p:nvPr/>
        </p:nvSpPr>
        <p:spPr>
          <a:xfrm>
            <a:off x="502920" y="2971800"/>
            <a:ext cx="2377440" cy="502920"/>
          </a:xfrm>
          <a:prstGeom prst="rect">
            <a:avLst/>
          </a:prstGeom>
          <a:noFill/>
          <a:ln/>
        </p:spPr>
        <p:txBody>
          <a:bodyPr wrap="square" lIns="0" tIns="0" rIns="0" bIns="0" rtlCol="0" anchor="ctr"/>
          <a:lstStyle/>
          <a:p>
            <a:pPr indent="0" marL="0">
              <a:buNone/>
            </a:pPr>
            <a:r>
              <a:rPr lang="en-US" sz="2000" b="1" dirty="0">
                <a:solidFill>
                  <a:srgbClr val="E84545"/>
                </a:solidFill>
                <a:latin typeface="Cambria" pitchFamily="34" charset="0"/>
                <a:ea typeface="Cambria" pitchFamily="34" charset="-122"/>
                <a:cs typeface="Cambria" pitchFamily="34" charset="-120"/>
              </a:rPr>
              <a:t>Klarna</a:t>
            </a:r>
            <a:endParaRPr lang="en-US" sz="2000" dirty="0"/>
          </a:p>
        </p:txBody>
      </p:sp>
      <p:sp>
        <p:nvSpPr>
          <p:cNvPr id="9" name="Text 7"/>
          <p:cNvSpPr/>
          <p:nvPr/>
        </p:nvSpPr>
        <p:spPr>
          <a:xfrm>
            <a:off x="502920" y="3456432"/>
            <a:ext cx="2377440" cy="320040"/>
          </a:xfrm>
          <a:prstGeom prst="rect">
            <a:avLst/>
          </a:prstGeom>
          <a:noFill/>
          <a:ln/>
        </p:spPr>
        <p:txBody>
          <a:bodyPr wrap="square" lIns="0" tIns="0" rIns="0" bIns="0" rtlCol="0" anchor="ctr"/>
          <a:lstStyle/>
          <a:p>
            <a:pPr indent="0" marL="0">
              <a:buNone/>
            </a:pPr>
            <a:r>
              <a:rPr lang="en-US" sz="1000" b="1" dirty="0">
                <a:solidFill>
                  <a:srgbClr val="6B7C93"/>
                </a:solidFill>
                <a:latin typeface="Calibri" pitchFamily="34" charset="0"/>
                <a:ea typeface="Calibri" pitchFamily="34" charset="-122"/>
                <a:cs typeface="Calibri" pitchFamily="34" charset="-120"/>
              </a:rPr>
              <a:t>700 FTE equivalent replaced</a:t>
            </a:r>
            <a:endParaRPr lang="en-US" sz="1000" dirty="0"/>
          </a:p>
        </p:txBody>
      </p:sp>
      <p:sp>
        <p:nvSpPr>
          <p:cNvPr id="10" name="Text 8"/>
          <p:cNvSpPr/>
          <p:nvPr/>
        </p:nvSpPr>
        <p:spPr>
          <a:xfrm>
            <a:off x="502920" y="3767328"/>
            <a:ext cx="2377440" cy="914400"/>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Customer satisfaction: unchanged. But institutional knowledge: gone.</a:t>
            </a:r>
            <a:endParaRPr lang="en-US" sz="1100" dirty="0"/>
          </a:p>
        </p:txBody>
      </p:sp>
      <p:sp>
        <p:nvSpPr>
          <p:cNvPr id="11" name="Shape 9"/>
          <p:cNvSpPr/>
          <p:nvPr/>
        </p:nvSpPr>
        <p:spPr>
          <a:xfrm>
            <a:off x="3218688" y="2880360"/>
            <a:ext cx="2651760" cy="1965960"/>
          </a:xfrm>
          <a:prstGeom prst="roundRect">
            <a:avLst>
              <a:gd name="adj" fmla="val 4651"/>
            </a:avLst>
          </a:prstGeom>
          <a:solidFill>
            <a:srgbClr val="FFFFFF"/>
          </a:solidFill>
          <a:ln w="12700">
            <a:solidFill>
              <a:srgbClr val="DDDDDD"/>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3355848" y="2971800"/>
            <a:ext cx="2377440" cy="502920"/>
          </a:xfrm>
          <a:prstGeom prst="rect">
            <a:avLst/>
          </a:prstGeom>
          <a:noFill/>
          <a:ln/>
        </p:spPr>
        <p:txBody>
          <a:bodyPr wrap="square" lIns="0" tIns="0" rIns="0" bIns="0" rtlCol="0" anchor="ctr"/>
          <a:lstStyle/>
          <a:p>
            <a:pPr indent="0" marL="0">
              <a:buNone/>
            </a:pPr>
            <a:r>
              <a:rPr lang="en-US" sz="2000" b="1" dirty="0">
                <a:solidFill>
                  <a:srgbClr val="0E9AA7"/>
                </a:solidFill>
                <a:latin typeface="Cambria" pitchFamily="34" charset="0"/>
                <a:ea typeface="Cambria" pitchFamily="34" charset="-122"/>
                <a:cs typeface="Cambria" pitchFamily="34" charset="-120"/>
              </a:rPr>
              <a:t>Amazon</a:t>
            </a:r>
            <a:endParaRPr lang="en-US" sz="2000" dirty="0"/>
          </a:p>
        </p:txBody>
      </p:sp>
      <p:sp>
        <p:nvSpPr>
          <p:cNvPr id="13" name="Text 11"/>
          <p:cNvSpPr/>
          <p:nvPr/>
        </p:nvSpPr>
        <p:spPr>
          <a:xfrm>
            <a:off x="3355848" y="3456432"/>
            <a:ext cx="2377440" cy="320040"/>
          </a:xfrm>
          <a:prstGeom prst="rect">
            <a:avLst/>
          </a:prstGeom>
          <a:noFill/>
          <a:ln/>
        </p:spPr>
        <p:txBody>
          <a:bodyPr wrap="square" lIns="0" tIns="0" rIns="0" bIns="0" rtlCol="0" anchor="ctr"/>
          <a:lstStyle/>
          <a:p>
            <a:pPr indent="0" marL="0">
              <a:buNone/>
            </a:pPr>
            <a:r>
              <a:rPr lang="en-US" sz="1000" b="1" dirty="0">
                <a:solidFill>
                  <a:srgbClr val="6B7C93"/>
                </a:solidFill>
                <a:latin typeface="Calibri" pitchFamily="34" charset="0"/>
                <a:ea typeface="Calibri" pitchFamily="34" charset="-122"/>
                <a:cs typeface="Calibri" pitchFamily="34" charset="-120"/>
              </a:rPr>
              <a:t>750K robots + 1.5M humans</a:t>
            </a:r>
            <a:endParaRPr lang="en-US" sz="1000" dirty="0"/>
          </a:p>
        </p:txBody>
      </p:sp>
      <p:sp>
        <p:nvSpPr>
          <p:cNvPr id="14" name="Text 12"/>
          <p:cNvSpPr/>
          <p:nvPr/>
        </p:nvSpPr>
        <p:spPr>
          <a:xfrm>
            <a:off x="3355848" y="3767328"/>
            <a:ext cx="2377440" cy="914400"/>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Productivity up. New roles emerged. Culture adapted over time.</a:t>
            </a:r>
            <a:endParaRPr lang="en-US" sz="1100" dirty="0"/>
          </a:p>
        </p:txBody>
      </p:sp>
      <p:sp>
        <p:nvSpPr>
          <p:cNvPr id="15" name="Shape 13"/>
          <p:cNvSpPr/>
          <p:nvPr/>
        </p:nvSpPr>
        <p:spPr>
          <a:xfrm>
            <a:off x="6071616" y="2880360"/>
            <a:ext cx="2651760" cy="1965960"/>
          </a:xfrm>
          <a:prstGeom prst="roundRect">
            <a:avLst>
              <a:gd name="adj" fmla="val 4651"/>
            </a:avLst>
          </a:prstGeom>
          <a:solidFill>
            <a:srgbClr val="FFFFFF"/>
          </a:solidFill>
          <a:ln w="12700">
            <a:solidFill>
              <a:srgbClr val="DDDDDD"/>
            </a:solidFill>
            <a:prstDash val="solid"/>
          </a:ln>
          <a:effectLst>
            <a:outerShdw sx="100000" sy="100000" kx="0" ky="0" algn="bl" rotWithShape="0" blurRad="101600" dist="38100" dir="2700000">
              <a:srgbClr val="000000">
                <a:alpha val="15000"/>
              </a:srgbClr>
            </a:outerShdw>
          </a:effectLst>
        </p:spPr>
      </p:sp>
      <p:sp>
        <p:nvSpPr>
          <p:cNvPr id="16" name="Text 14"/>
          <p:cNvSpPr/>
          <p:nvPr/>
        </p:nvSpPr>
        <p:spPr>
          <a:xfrm>
            <a:off x="6208776" y="2971800"/>
            <a:ext cx="2377440" cy="502920"/>
          </a:xfrm>
          <a:prstGeom prst="rect">
            <a:avLst/>
          </a:prstGeom>
          <a:noFill/>
          <a:ln/>
        </p:spPr>
        <p:txBody>
          <a:bodyPr wrap="square" lIns="0" tIns="0" rIns="0" bIns="0" rtlCol="0" anchor="ctr"/>
          <a:lstStyle/>
          <a:p>
            <a:pPr indent="0" marL="0">
              <a:buNone/>
            </a:pPr>
            <a:r>
              <a:rPr lang="en-US" sz="2000" b="1" dirty="0">
                <a:solidFill>
                  <a:srgbClr val="F4A623"/>
                </a:solidFill>
                <a:latin typeface="Cambria" pitchFamily="34" charset="0"/>
                <a:ea typeface="Cambria" pitchFamily="34" charset="-122"/>
                <a:cs typeface="Cambria" pitchFamily="34" charset="-120"/>
              </a:rPr>
              <a:t>IBM</a:t>
            </a:r>
            <a:endParaRPr lang="en-US" sz="2000" dirty="0"/>
          </a:p>
        </p:txBody>
      </p:sp>
      <p:sp>
        <p:nvSpPr>
          <p:cNvPr id="17" name="Text 15"/>
          <p:cNvSpPr/>
          <p:nvPr/>
        </p:nvSpPr>
        <p:spPr>
          <a:xfrm>
            <a:off x="6208776" y="3456432"/>
            <a:ext cx="2377440" cy="320040"/>
          </a:xfrm>
          <a:prstGeom prst="rect">
            <a:avLst/>
          </a:prstGeom>
          <a:noFill/>
          <a:ln/>
        </p:spPr>
        <p:txBody>
          <a:bodyPr wrap="square" lIns="0" tIns="0" rIns="0" bIns="0" rtlCol="0" anchor="ctr"/>
          <a:lstStyle/>
          <a:p>
            <a:pPr indent="0" marL="0">
              <a:buNone/>
            </a:pPr>
            <a:r>
              <a:rPr lang="en-US" sz="1000" b="1" dirty="0">
                <a:solidFill>
                  <a:srgbClr val="6B7C93"/>
                </a:solidFill>
                <a:latin typeface="Calibri" pitchFamily="34" charset="0"/>
                <a:ea typeface="Calibri" pitchFamily="34" charset="-122"/>
                <a:cs typeface="Calibri" pitchFamily="34" charset="-120"/>
              </a:rPr>
              <a:t>7,800 roles to be replaced</a:t>
            </a:r>
            <a:endParaRPr lang="en-US" sz="1000" dirty="0"/>
          </a:p>
        </p:txBody>
      </p:sp>
      <p:sp>
        <p:nvSpPr>
          <p:cNvPr id="18" name="Text 16"/>
          <p:cNvSpPr/>
          <p:nvPr/>
        </p:nvSpPr>
        <p:spPr>
          <a:xfrm>
            <a:off x="6208776" y="3767328"/>
            <a:ext cx="2377440" cy="914400"/>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Announced before AI proved itself. Displacement driven by optics, not performance.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4A623"/>
          </a:solidFill>
          <a:ln w="12700">
            <a:solidFill>
              <a:srgbClr val="F4A623"/>
            </a:solidFill>
            <a:prstDash val="solid"/>
          </a:ln>
        </p:spPr>
      </p:sp>
      <p:sp>
        <p:nvSpPr>
          <p:cNvPr id="3" name="Text 1"/>
          <p:cNvSpPr/>
          <p:nvPr/>
        </p:nvSpPr>
        <p:spPr>
          <a:xfrm>
            <a:off x="365760" y="228600"/>
            <a:ext cx="8412480" cy="5029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What You Take Into Every Role From Here</a:t>
            </a:r>
            <a:endParaRPr lang="en-US" sz="2200" dirty="0"/>
          </a:p>
        </p:txBody>
      </p:sp>
      <p:sp>
        <p:nvSpPr>
          <p:cNvPr id="4" name="Text 2"/>
          <p:cNvSpPr/>
          <p:nvPr/>
        </p:nvSpPr>
        <p:spPr>
          <a:xfrm>
            <a:off x="365760" y="868680"/>
            <a:ext cx="594360" cy="822960"/>
          </a:xfrm>
          <a:prstGeom prst="rect">
            <a:avLst/>
          </a:prstGeom>
          <a:noFill/>
          <a:ln/>
        </p:spPr>
        <p:txBody>
          <a:bodyPr wrap="square" lIns="0" tIns="0" rIns="0" bIns="0" rtlCol="0" anchor="ctr"/>
          <a:lstStyle/>
          <a:p>
            <a:pPr algn="ctr" indent="0" marL="0">
              <a:buNone/>
            </a:pPr>
            <a:r>
              <a:rPr lang="en-US" sz="2200" b="1" dirty="0">
                <a:solidFill>
                  <a:srgbClr val="0E9AA7"/>
                </a:solidFill>
                <a:latin typeface="Cambria" pitchFamily="34" charset="0"/>
                <a:ea typeface="Cambria" pitchFamily="34" charset="-122"/>
                <a:cs typeface="Cambria" pitchFamily="34" charset="-120"/>
              </a:rPr>
              <a:t>01</a:t>
            </a:r>
            <a:endParaRPr lang="en-US" sz="2200" dirty="0"/>
          </a:p>
        </p:txBody>
      </p:sp>
      <p:sp>
        <p:nvSpPr>
          <p:cNvPr id="5" name="Text 3"/>
          <p:cNvSpPr/>
          <p:nvPr/>
        </p:nvSpPr>
        <p:spPr>
          <a:xfrm>
            <a:off x="1051560" y="886968"/>
            <a:ext cx="758952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 changes demands, not just headcount.</a:t>
            </a:r>
            <a:endParaRPr lang="en-US" sz="1400" dirty="0"/>
          </a:p>
        </p:txBody>
      </p:sp>
      <p:sp>
        <p:nvSpPr>
          <p:cNvPr id="6" name="Text 4"/>
          <p:cNvSpPr/>
          <p:nvPr/>
        </p:nvSpPr>
        <p:spPr>
          <a:xfrm>
            <a:off x="1051560" y="1216152"/>
            <a:ext cx="7589520" cy="502920"/>
          </a:xfrm>
          <a:prstGeom prst="rect">
            <a:avLst/>
          </a:prstGeom>
          <a:noFill/>
          <a:ln/>
        </p:spPr>
        <p:txBody>
          <a:bodyPr wrap="square" lIns="0" tIns="0" rIns="0" bIns="0" rtlCol="0" anchor="ctr"/>
          <a:lstStyle/>
          <a:p>
            <a:pPr indent="0" marL="0">
              <a:buNone/>
            </a:pPr>
            <a:r>
              <a:rPr lang="en-US" sz="1100" dirty="0">
                <a:solidFill>
                  <a:srgbClr val="AABBCC"/>
                </a:solidFill>
                <a:latin typeface="Calibri" pitchFamily="34" charset="0"/>
                <a:ea typeface="Calibri" pitchFamily="34" charset="-122"/>
                <a:cs typeface="Calibri" pitchFamily="34" charset="-120"/>
              </a:rPr>
              <a:t>What work requires is shifting. Monitor your own job's demand profile — before someone else does.</a:t>
            </a:r>
            <a:endParaRPr lang="en-US" sz="1100" dirty="0"/>
          </a:p>
        </p:txBody>
      </p:sp>
      <p:sp>
        <p:nvSpPr>
          <p:cNvPr id="7" name="Shape 5"/>
          <p:cNvSpPr/>
          <p:nvPr/>
        </p:nvSpPr>
        <p:spPr>
          <a:xfrm>
            <a:off x="365760" y="1783080"/>
            <a:ext cx="8412480" cy="0"/>
          </a:xfrm>
          <a:prstGeom prst="line">
            <a:avLst/>
          </a:prstGeom>
          <a:noFill/>
          <a:ln w="6350">
            <a:solidFill>
              <a:srgbClr val="1A3055"/>
            </a:solidFill>
            <a:prstDash val="solid"/>
          </a:ln>
        </p:spPr>
      </p:sp>
      <p:sp>
        <p:nvSpPr>
          <p:cNvPr id="8" name="Text 6"/>
          <p:cNvSpPr/>
          <p:nvPr/>
        </p:nvSpPr>
        <p:spPr>
          <a:xfrm>
            <a:off x="365760" y="1874520"/>
            <a:ext cx="594360" cy="822960"/>
          </a:xfrm>
          <a:prstGeom prst="rect">
            <a:avLst/>
          </a:prstGeom>
          <a:noFill/>
          <a:ln/>
        </p:spPr>
        <p:txBody>
          <a:bodyPr wrap="square" lIns="0" tIns="0" rIns="0" bIns="0" rtlCol="0" anchor="ctr"/>
          <a:lstStyle/>
          <a:p>
            <a:pPr algn="ctr" indent="0" marL="0">
              <a:buNone/>
            </a:pPr>
            <a:r>
              <a:rPr lang="en-US" sz="2200" b="1" dirty="0">
                <a:solidFill>
                  <a:srgbClr val="0E9AA7"/>
                </a:solidFill>
                <a:latin typeface="Cambria" pitchFamily="34" charset="0"/>
                <a:ea typeface="Cambria" pitchFamily="34" charset="-122"/>
                <a:cs typeface="Cambria" pitchFamily="34" charset="-120"/>
              </a:rPr>
              <a:t>02</a:t>
            </a:r>
            <a:endParaRPr lang="en-US" sz="2200" dirty="0"/>
          </a:p>
        </p:txBody>
      </p:sp>
      <p:sp>
        <p:nvSpPr>
          <p:cNvPr id="9" name="Text 7"/>
          <p:cNvSpPr/>
          <p:nvPr/>
        </p:nvSpPr>
        <p:spPr>
          <a:xfrm>
            <a:off x="1051560" y="1892808"/>
            <a:ext cx="758952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floor isn't automation. It's judgment.</a:t>
            </a:r>
            <a:endParaRPr lang="en-US" sz="1400" dirty="0"/>
          </a:p>
        </p:txBody>
      </p:sp>
      <p:sp>
        <p:nvSpPr>
          <p:cNvPr id="10" name="Text 8"/>
          <p:cNvSpPr/>
          <p:nvPr/>
        </p:nvSpPr>
        <p:spPr>
          <a:xfrm>
            <a:off x="1051560" y="2221992"/>
            <a:ext cx="7589520" cy="502920"/>
          </a:xfrm>
          <a:prstGeom prst="rect">
            <a:avLst/>
          </a:prstGeom>
          <a:noFill/>
          <a:ln/>
        </p:spPr>
        <p:txBody>
          <a:bodyPr wrap="square" lIns="0" tIns="0" rIns="0" bIns="0" rtlCol="0" anchor="ctr"/>
          <a:lstStyle/>
          <a:p>
            <a:pPr indent="0" marL="0">
              <a:buNone/>
            </a:pPr>
            <a:r>
              <a:rPr lang="en-US" sz="1100" dirty="0">
                <a:solidFill>
                  <a:srgbClr val="AABBCC"/>
                </a:solidFill>
                <a:latin typeface="Calibri" pitchFamily="34" charset="0"/>
                <a:ea typeface="Calibri" pitchFamily="34" charset="-122"/>
                <a:cs typeface="Calibri" pitchFamily="34" charset="-120"/>
              </a:rPr>
              <a:t>Routine tasks compress in value. The judgment to know which problem matters: that appreciates.</a:t>
            </a:r>
            <a:endParaRPr lang="en-US" sz="1100" dirty="0"/>
          </a:p>
        </p:txBody>
      </p:sp>
      <p:sp>
        <p:nvSpPr>
          <p:cNvPr id="11" name="Shape 9"/>
          <p:cNvSpPr/>
          <p:nvPr/>
        </p:nvSpPr>
        <p:spPr>
          <a:xfrm>
            <a:off x="365760" y="2788920"/>
            <a:ext cx="8412480" cy="0"/>
          </a:xfrm>
          <a:prstGeom prst="line">
            <a:avLst/>
          </a:prstGeom>
          <a:noFill/>
          <a:ln w="6350">
            <a:solidFill>
              <a:srgbClr val="1A3055"/>
            </a:solidFill>
            <a:prstDash val="solid"/>
          </a:ln>
        </p:spPr>
      </p:sp>
      <p:sp>
        <p:nvSpPr>
          <p:cNvPr id="12" name="Text 10"/>
          <p:cNvSpPr/>
          <p:nvPr/>
        </p:nvSpPr>
        <p:spPr>
          <a:xfrm>
            <a:off x="365760" y="2880360"/>
            <a:ext cx="594360" cy="822960"/>
          </a:xfrm>
          <a:prstGeom prst="rect">
            <a:avLst/>
          </a:prstGeom>
          <a:noFill/>
          <a:ln/>
        </p:spPr>
        <p:txBody>
          <a:bodyPr wrap="square" lIns="0" tIns="0" rIns="0" bIns="0" rtlCol="0" anchor="ctr"/>
          <a:lstStyle/>
          <a:p>
            <a:pPr algn="ctr" indent="0" marL="0">
              <a:buNone/>
            </a:pPr>
            <a:r>
              <a:rPr lang="en-US" sz="2200" b="1" dirty="0">
                <a:solidFill>
                  <a:srgbClr val="0E9AA7"/>
                </a:solidFill>
                <a:latin typeface="Cambria" pitchFamily="34" charset="0"/>
                <a:ea typeface="Cambria" pitchFamily="34" charset="-122"/>
                <a:cs typeface="Cambria" pitchFamily="34" charset="-120"/>
              </a:rPr>
              <a:t>03</a:t>
            </a:r>
            <a:endParaRPr lang="en-US" sz="2200" dirty="0"/>
          </a:p>
        </p:txBody>
      </p:sp>
      <p:sp>
        <p:nvSpPr>
          <p:cNvPr id="13" name="Text 11"/>
          <p:cNvSpPr/>
          <p:nvPr/>
        </p:nvSpPr>
        <p:spPr>
          <a:xfrm>
            <a:off x="1051560" y="2898648"/>
            <a:ext cx="758952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Speed and sustainability are both strategies.</a:t>
            </a:r>
            <a:endParaRPr lang="en-US" sz="1400" dirty="0"/>
          </a:p>
        </p:txBody>
      </p:sp>
      <p:sp>
        <p:nvSpPr>
          <p:cNvPr id="14" name="Text 12"/>
          <p:cNvSpPr/>
          <p:nvPr/>
        </p:nvSpPr>
        <p:spPr>
          <a:xfrm>
            <a:off x="1051560" y="3227832"/>
            <a:ext cx="7589520" cy="502920"/>
          </a:xfrm>
          <a:prstGeom prst="rect">
            <a:avLst/>
          </a:prstGeom>
          <a:noFill/>
          <a:ln/>
        </p:spPr>
        <p:txBody>
          <a:bodyPr wrap="square" lIns="0" tIns="0" rIns="0" bIns="0" rtlCol="0" anchor="ctr"/>
          <a:lstStyle/>
          <a:p>
            <a:pPr indent="0" marL="0">
              <a:buNone/>
            </a:pPr>
            <a:r>
              <a:rPr lang="en-US" sz="1100" dirty="0">
                <a:solidFill>
                  <a:srgbClr val="AABBCC"/>
                </a:solidFill>
                <a:latin typeface="Calibri" pitchFamily="34" charset="0"/>
                <a:ea typeface="Calibri" pitchFamily="34" charset="-122"/>
                <a:cs typeface="Calibri" pitchFamily="34" charset="-120"/>
              </a:rPr>
              <a:t>Klarna's speed and Amazon's deliberateness produced different organisations. Know which one you're building.</a:t>
            </a:r>
            <a:endParaRPr lang="en-US" sz="1100" dirty="0"/>
          </a:p>
        </p:txBody>
      </p:sp>
      <p:sp>
        <p:nvSpPr>
          <p:cNvPr id="15" name="Shape 13"/>
          <p:cNvSpPr/>
          <p:nvPr/>
        </p:nvSpPr>
        <p:spPr>
          <a:xfrm>
            <a:off x="365760" y="3794760"/>
            <a:ext cx="8412480" cy="0"/>
          </a:xfrm>
          <a:prstGeom prst="line">
            <a:avLst/>
          </a:prstGeom>
          <a:noFill/>
          <a:ln w="6350">
            <a:solidFill>
              <a:srgbClr val="1A3055"/>
            </a:solidFill>
            <a:prstDash val="solid"/>
          </a:ln>
        </p:spPr>
      </p:sp>
      <p:sp>
        <p:nvSpPr>
          <p:cNvPr id="16" name="Text 14"/>
          <p:cNvSpPr/>
          <p:nvPr/>
        </p:nvSpPr>
        <p:spPr>
          <a:xfrm>
            <a:off x="365760" y="3886200"/>
            <a:ext cx="594360" cy="822960"/>
          </a:xfrm>
          <a:prstGeom prst="rect">
            <a:avLst/>
          </a:prstGeom>
          <a:noFill/>
          <a:ln/>
        </p:spPr>
        <p:txBody>
          <a:bodyPr wrap="square" lIns="0" tIns="0" rIns="0" bIns="0" rtlCol="0" anchor="ctr"/>
          <a:lstStyle/>
          <a:p>
            <a:pPr algn="ctr" indent="0" marL="0">
              <a:buNone/>
            </a:pPr>
            <a:r>
              <a:rPr lang="en-US" sz="2200" b="1" dirty="0">
                <a:solidFill>
                  <a:srgbClr val="0E9AA7"/>
                </a:solidFill>
                <a:latin typeface="Cambria" pitchFamily="34" charset="0"/>
                <a:ea typeface="Cambria" pitchFamily="34" charset="-122"/>
                <a:cs typeface="Cambria" pitchFamily="34" charset="-120"/>
              </a:rPr>
              <a:t>04</a:t>
            </a:r>
            <a:endParaRPr lang="en-US" sz="2200" dirty="0"/>
          </a:p>
        </p:txBody>
      </p:sp>
      <p:sp>
        <p:nvSpPr>
          <p:cNvPr id="17" name="Text 15"/>
          <p:cNvSpPr/>
          <p:nvPr/>
        </p:nvSpPr>
        <p:spPr>
          <a:xfrm>
            <a:off x="1051560" y="3904488"/>
            <a:ext cx="758952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Reskilling is a promise. Hold firms to it.</a:t>
            </a:r>
            <a:endParaRPr lang="en-US" sz="1400" dirty="0"/>
          </a:p>
        </p:txBody>
      </p:sp>
      <p:sp>
        <p:nvSpPr>
          <p:cNvPr id="18" name="Text 16"/>
          <p:cNvSpPr/>
          <p:nvPr/>
        </p:nvSpPr>
        <p:spPr>
          <a:xfrm>
            <a:off x="1051560" y="4233672"/>
            <a:ext cx="7589520" cy="502920"/>
          </a:xfrm>
          <a:prstGeom prst="rect">
            <a:avLst/>
          </a:prstGeom>
          <a:noFill/>
          <a:ln/>
        </p:spPr>
        <p:txBody>
          <a:bodyPr wrap="square" lIns="0" tIns="0" rIns="0" bIns="0" rtlCol="0" anchor="ctr"/>
          <a:lstStyle/>
          <a:p>
            <a:pPr indent="0" marL="0">
              <a:buNone/>
            </a:pPr>
            <a:r>
              <a:rPr lang="en-US" sz="1100" dirty="0">
                <a:solidFill>
                  <a:srgbClr val="AABBCC"/>
                </a:solidFill>
                <a:latin typeface="Calibri" pitchFamily="34" charset="0"/>
                <a:ea typeface="Calibri" pitchFamily="34" charset="-122"/>
                <a:cs typeface="Calibri" pitchFamily="34" charset="-120"/>
              </a:rPr>
              <a:t>Companies announce reskilling programs. Fewer deliver them. As a manager, that gap is your responsibility.</a:t>
            </a:r>
            <a:endParaRPr lang="en-US" sz="1100" dirty="0"/>
          </a:p>
        </p:txBody>
      </p:sp>
      <p:sp>
        <p:nvSpPr>
          <p:cNvPr id="19" name="Shape 17"/>
          <p:cNvSpPr/>
          <p:nvPr/>
        </p:nvSpPr>
        <p:spPr>
          <a:xfrm>
            <a:off x="365760" y="4663440"/>
            <a:ext cx="8412480" cy="347472"/>
          </a:xfrm>
          <a:prstGeom prst="roundRect">
            <a:avLst>
              <a:gd name="adj" fmla="val 15789"/>
            </a:avLst>
          </a:prstGeom>
          <a:solidFill>
            <a:srgbClr val="F4A623"/>
          </a:solidFill>
          <a:ln w="12700">
            <a:solidFill>
              <a:srgbClr val="F4A623"/>
            </a:solidFill>
            <a:prstDash val="solid"/>
          </a:ln>
        </p:spPr>
      </p:sp>
      <p:sp>
        <p:nvSpPr>
          <p:cNvPr id="20" name="Text 18"/>
          <p:cNvSpPr/>
          <p:nvPr/>
        </p:nvSpPr>
        <p:spPr>
          <a:xfrm>
            <a:off x="365760" y="4663440"/>
            <a:ext cx="8412480" cy="347472"/>
          </a:xfrm>
          <a:prstGeom prst="rect">
            <a:avLst/>
          </a:prstGeom>
          <a:noFill/>
          <a:ln/>
        </p:spPr>
        <p:txBody>
          <a:bodyPr wrap="square" lIns="0" tIns="0" rIns="0" bIns="0" rtlCol="0" anchor="ctr"/>
          <a:lstStyle/>
          <a:p>
            <a:pPr algn="ctr" indent="0" marL="0">
              <a:buNone/>
            </a:pPr>
            <a:r>
              <a:rPr lang="en-US" sz="1100" b="1" dirty="0">
                <a:solidFill>
                  <a:srgbClr val="0D1B3E"/>
                </a:solidFill>
                <a:latin typeface="Calibri" pitchFamily="34" charset="0"/>
                <a:ea typeface="Calibri" pitchFamily="34" charset="-122"/>
                <a:cs typeface="Calibri" pitchFamily="34" charset="-120"/>
              </a:rPr>
              <a:t>Next session: Talent Acquisition and AI-Enabled Hiring — who gets in the door, and who gets filtered out.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Automation and the Changing Nature of Work</dc:title>
  <dc:subject>PptxGenJS Presentation</dc:subject>
  <dc:creator>PptxGenJS</dc:creator>
  <cp:lastModifiedBy>PptxGenJS</cp:lastModifiedBy>
  <cp:revision>1</cp:revision>
  <dcterms:created xsi:type="dcterms:W3CDTF">2026-06-11T15:30:15Z</dcterms:created>
  <dcterms:modified xsi:type="dcterms:W3CDTF">2026-06-11T15:30:15Z</dcterms:modified>
</cp:coreProperties>
</file>